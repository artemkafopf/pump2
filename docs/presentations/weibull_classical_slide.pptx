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125999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2744"/>
                </a:solidFill>
                <a:latin typeface="Calibri"/>
              </a:defRPr>
            </a:pPr>
            <a:r>
              <a:t>Данные и Метод: Классическая модель Вейбулла — Глобальный фонд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eibull_classical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147761"/>
            <a:ext cx="6954732" cy="4994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6731" y="827999"/>
            <a:ext cx="432046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A2744"/>
                </a:solidFill>
                <a:latin typeface="Calibri"/>
              </a:defRPr>
            </a:pPr>
            <a:r>
              <a:t>Параметры Вейбулла MLE — Global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76731" y="1097999"/>
          <a:ext cx="4320468" cy="53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56"/>
                <a:gridCol w="1440156"/>
                <a:gridCol w="1440156"/>
              </a:tblGrid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marL="43200" marR="43200" marT="180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marL="43200" marR="43200" marT="180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 marL="43200" marR="43200" marT="18000">
                    <a:solidFill>
                      <a:srgbClr val="1A2744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n (прогонов)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2,634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1,527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(57%)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β&lt;1 → убывающий риск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η (масштаб, 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63.2% откажут к η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Медиана Weibull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209 дн.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= η·ln(2)^(1/β)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KM медиана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229 дн.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эмпирическая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Среднее (теор.)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412 дн.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S(среднее) = 0.32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RMST(365 дн.)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212 дн.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площадь под KM до 365</a:t>
                      </a:r>
                    </a:p>
                  </a:txBody>
                  <a:tcPr marL="43200" marR="43200" marT="18000">
                    <a:solidFill>
                      <a:srgbClr val="EEF2F7"/>
                    </a:solidFill>
                  </a:tcPr>
                </a:tc>
              </a:tr>
              <a:tr h="5364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744"/>
                          </a:solidFill>
                          <a:latin typeface="Calibri"/>
                        </a:rPr>
                        <a:t>B90</a:t>
                      </a:r>
                    </a:p>
                  </a:txBody>
                  <a:tcPr marL="43200" marR="43200" marT="18000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744"/>
                          </a:solidFill>
                          <a:latin typeface="Calibri"/>
                        </a:rPr>
                        <a:t>1055 дн.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  <a:latin typeface="Calibri"/>
                        </a:rPr>
                        <a:t>10% фонда доживёт</a:t>
                      </a:r>
                    </a:p>
                  </a:txBody>
                  <a:tcPr marL="43200" marR="43200" marT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