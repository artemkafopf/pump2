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125999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2744"/>
                </a:solidFill>
                <a:latin typeface="Calibri"/>
              </a:defRPr>
            </a:pPr>
            <a:r>
              <a:t>Выживаемость ЭЦН: Vt vs Глобальный фонд — Weibull MLE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_vt_vs_global_weib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155226"/>
            <a:ext cx="6954732" cy="4979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6731" y="827999"/>
            <a:ext cx="432046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A2744"/>
                </a:solidFill>
                <a:latin typeface="Calibri"/>
              </a:defRPr>
            </a:pPr>
            <a:r>
              <a:t>Параметры Вейбулла MLE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76731" y="1097999"/>
          <a:ext cx="4320468" cy="53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7"/>
                <a:gridCol w="1080117"/>
                <a:gridCol w="1080117"/>
                <a:gridCol w="1080117"/>
              </a:tblGrid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marL="43200" marR="43200" marT="180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L="43200" marR="43200" marT="18000">
                    <a:solidFill>
                      <a:srgbClr val="C8D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C3500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 marL="43200" marR="43200" marT="18000">
                    <a:solidFill>
                      <a:srgbClr val="EED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Calibri"/>
                        </a:rPr>
                        <a:t>Δ Vt vs GL</a:t>
                      </a:r>
                    </a:p>
                  </a:txBody>
                  <a:tcPr marL="43200" marR="43200" marT="18000">
                    <a:solidFill>
                      <a:srgbClr val="D0D0D0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n (прогонов)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2,634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B36A00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1,527 (57%)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B36A00"/>
                          </a:solidFill>
                          <a:latin typeface="Calibri"/>
                        </a:rPr>
                        <a:t>268 (65%)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B36A00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6B3C"/>
                          </a:solidFill>
                          <a:latin typeface="Calibri"/>
                        </a:rPr>
                        <a:t>+9%</a:t>
                      </a:r>
                    </a:p>
                  </a:txBody>
                  <a:tcPr marL="43200" marR="43200" marT="18000">
                    <a:solidFill>
                      <a:srgbClr val="E8F5E9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η (масштаб, 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B36A00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A2222"/>
                          </a:solidFill>
                          <a:latin typeface="Calibri"/>
                        </a:rPr>
                        <a:t>-46%</a:t>
                      </a:r>
                    </a:p>
                  </a:txBody>
                  <a:tcPr marL="43200" marR="43200" marT="18000">
                    <a:solidFill>
                      <a:srgbClr val="FDECEA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Среднее (дн.)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412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B36A00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A2222"/>
                          </a:solidFill>
                          <a:latin typeface="Calibri"/>
                        </a:rPr>
                        <a:t>-50%</a:t>
                      </a:r>
                    </a:p>
                  </a:txBody>
                  <a:tcPr marL="43200" marR="43200" marT="18000">
                    <a:solidFill>
                      <a:srgbClr val="FDECEA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Медиана Weibull (дн.)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209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B36A0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A2222"/>
                          </a:solidFill>
                          <a:latin typeface="Calibri"/>
                        </a:rPr>
                        <a:t>-44%</a:t>
                      </a:r>
                    </a:p>
                  </a:txBody>
                  <a:tcPr marL="43200" marR="43200" marT="18000">
                    <a:solidFill>
                      <a:srgbClr val="FDECEA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KM медиана (дн.)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B36A00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A2222"/>
                          </a:solidFill>
                          <a:latin typeface="Calibri"/>
                        </a:rPr>
                        <a:t>-46%</a:t>
                      </a:r>
                    </a:p>
                  </a:txBody>
                  <a:tcPr marL="43200" marR="43200" marT="18000"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