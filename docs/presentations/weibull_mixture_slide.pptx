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000" y="125999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1A2744"/>
                </a:solidFill>
                <a:latin typeface="Calibri"/>
              </a:defRPr>
            </a:pPr>
            <a:r>
              <a:t>Латентная смесь Вейбулла (K=2) — Глобальный фонд: два режима отказа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20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eibull_mixture_glob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000" y="1153364"/>
            <a:ext cx="6954732" cy="49832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76731" y="827999"/>
            <a:ext cx="432046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1A2744"/>
                </a:solidFill>
                <a:latin typeface="Calibri"/>
              </a:defRPr>
            </a:pPr>
            <a:r>
              <a:t>Параметры смеси (байесовск.) — Global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476731" y="1097999"/>
          <a:ext cx="4320468" cy="5363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117"/>
                <a:gridCol w="1080117"/>
                <a:gridCol w="1080117"/>
                <a:gridCol w="1080117"/>
              </a:tblGrid>
              <a:tr h="766285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Параметр</a:t>
                      </a:r>
                    </a:p>
                  </a:txBody>
                  <a:tcPr marL="43200" marR="43200" marT="1800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A2744"/>
                          </a:solidFill>
                          <a:latin typeface="Calibri"/>
                        </a:rPr>
                        <a:t>Компонента 1</a:t>
                      </a:r>
                    </a:p>
                    <a:p>
                      <a:r>
                        <a:t>(ранние)</a:t>
                      </a:r>
                    </a:p>
                  </a:txBody>
                  <a:tcPr marL="43200" marR="43200" marT="18000">
                    <a:solidFill>
                      <a:srgbClr val="D0D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6B1500"/>
                          </a:solidFill>
                          <a:latin typeface="Calibri"/>
                        </a:rPr>
                        <a:t>Компонента 2</a:t>
                      </a:r>
                    </a:p>
                    <a:p>
                      <a:r>
                        <a:t>(износ)</a:t>
                      </a:r>
                    </a:p>
                  </a:txBody>
                  <a:tcPr marL="43200" marR="43200" marT="18000">
                    <a:solidFill>
                      <a:srgbClr val="F5D9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55D27"/>
                          </a:solidFill>
                          <a:latin typeface="Calibri"/>
                        </a:rPr>
                        <a:t>Смесь</a:t>
                      </a:r>
                    </a:p>
                  </a:txBody>
                  <a:tcPr marL="43200" marR="43200" marT="18000">
                    <a:solidFill>
                      <a:srgbClr val="D8EAD3"/>
                    </a:solidFill>
                  </a:tcPr>
                </a:tc>
              </a:tr>
              <a:tr h="766285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2744"/>
                          </a:solidFill>
                          <a:latin typeface="Calibri"/>
                        </a:rPr>
                        <a:t>Вес (w)</a:t>
                      </a:r>
                    </a:p>
                  </a:txBody>
                  <a:tcPr marL="43200" marR="43200" marT="18000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F5C99"/>
                          </a:solidFill>
                          <a:latin typeface="Calibri"/>
                        </a:rPr>
                        <a:t>0.446</a:t>
                      </a:r>
                    </a:p>
                  </a:txBody>
                  <a:tcPr marL="43200" marR="43200" marT="18000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D62728"/>
                          </a:solidFill>
                          <a:latin typeface="Calibri"/>
                        </a:rPr>
                        <a:t>0.554</a:t>
                      </a:r>
                    </a:p>
                  </a:txBody>
                  <a:tcPr marL="43200" marR="43200" marT="18000">
                    <a:solidFill>
                      <a:srgbClr val="FFF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2CA02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3200" marR="43200" marT="18000">
                    <a:solidFill>
                      <a:srgbClr val="F8FDF8"/>
                    </a:solidFill>
                  </a:tcPr>
                </a:tc>
              </a:tr>
              <a:tr h="766285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2744"/>
                          </a:solidFill>
                          <a:latin typeface="Calibri"/>
                        </a:rPr>
                        <a:t>β (форма)</a:t>
                      </a:r>
                    </a:p>
                  </a:txBody>
                  <a:tcPr marL="43200" marR="43200" marT="18000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F5C99"/>
                          </a:solidFill>
                          <a:latin typeface="Calibri"/>
                        </a:rPr>
                        <a:t>0.870</a:t>
                      </a:r>
                    </a:p>
                  </a:txBody>
                  <a:tcPr marL="43200" marR="43200" marT="18000">
                    <a:solidFill>
                      <a:srgbClr val="EB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D62728"/>
                          </a:solidFill>
                          <a:latin typeface="Calibri"/>
                        </a:rPr>
                        <a:t>1.151</a:t>
                      </a:r>
                    </a:p>
                  </a:txBody>
                  <a:tcPr marL="43200" marR="43200" marT="18000">
                    <a:solidFill>
                      <a:srgbClr val="FFF0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2CA02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3200" marR="43200" marT="18000">
                    <a:solidFill>
                      <a:srgbClr val="F0FBF0"/>
                    </a:solidFill>
                  </a:tcPr>
                </a:tc>
              </a:tr>
              <a:tr h="766285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2744"/>
                          </a:solidFill>
                          <a:latin typeface="Calibri"/>
                        </a:rPr>
                        <a:t>η (масштаб, дн.)</a:t>
                      </a:r>
                    </a:p>
                  </a:txBody>
                  <a:tcPr marL="43200" marR="43200" marT="18000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F5C99"/>
                          </a:solidFill>
                          <a:latin typeface="Calibri"/>
                        </a:rPr>
                        <a:t>217</a:t>
                      </a:r>
                    </a:p>
                  </a:txBody>
                  <a:tcPr marL="43200" marR="43200" marT="18000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D62728"/>
                          </a:solidFill>
                          <a:latin typeface="Calibri"/>
                        </a:rPr>
                        <a:t>519</a:t>
                      </a:r>
                    </a:p>
                  </a:txBody>
                  <a:tcPr marL="43200" marR="43200" marT="18000">
                    <a:solidFill>
                      <a:srgbClr val="FFF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2CA02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3200" marR="43200" marT="18000">
                    <a:solidFill>
                      <a:srgbClr val="F8FDF8"/>
                    </a:solidFill>
                  </a:tcPr>
                </a:tc>
              </a:tr>
              <a:tr h="766285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2744"/>
                          </a:solidFill>
                          <a:latin typeface="Calibri"/>
                        </a:rPr>
                        <a:t>Медиана (дн.)</a:t>
                      </a:r>
                    </a:p>
                  </a:txBody>
                  <a:tcPr marL="43200" marR="43200" marT="18000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F5C99"/>
                          </a:solidFill>
                          <a:latin typeface="Calibri"/>
                        </a:rPr>
                        <a:t>142</a:t>
                      </a:r>
                    </a:p>
                  </a:txBody>
                  <a:tcPr marL="43200" marR="43200" marT="18000">
                    <a:solidFill>
                      <a:srgbClr val="EB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D62728"/>
                          </a:solidFill>
                          <a:latin typeface="Calibri"/>
                        </a:rPr>
                        <a:t>377</a:t>
                      </a:r>
                    </a:p>
                  </a:txBody>
                  <a:tcPr marL="43200" marR="43200" marT="18000">
                    <a:solidFill>
                      <a:srgbClr val="FFF0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2CA02C"/>
                          </a:solidFill>
                          <a:latin typeface="Calibri"/>
                        </a:rPr>
                        <a:t>253</a:t>
                      </a:r>
                    </a:p>
                  </a:txBody>
                  <a:tcPr marL="43200" marR="43200" marT="18000">
                    <a:solidFill>
                      <a:srgbClr val="F0FBF0"/>
                    </a:solidFill>
                  </a:tcPr>
                </a:tc>
              </a:tr>
              <a:tr h="766285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2744"/>
                          </a:solidFill>
                          <a:latin typeface="Calibri"/>
                        </a:rPr>
                        <a:t>Среднее (дн.)</a:t>
                      </a:r>
                    </a:p>
                  </a:txBody>
                  <a:tcPr marL="43200" marR="43200" marT="18000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F5C99"/>
                          </a:solidFill>
                          <a:latin typeface="Calibri"/>
                        </a:rPr>
                        <a:t>233</a:t>
                      </a:r>
                    </a:p>
                  </a:txBody>
                  <a:tcPr marL="43200" marR="43200" marT="18000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D62728"/>
                          </a:solidFill>
                          <a:latin typeface="Calibri"/>
                        </a:rPr>
                        <a:t>494</a:t>
                      </a:r>
                    </a:p>
                  </a:txBody>
                  <a:tcPr marL="43200" marR="43200" marT="18000">
                    <a:solidFill>
                      <a:srgbClr val="FFF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2CA02C"/>
                          </a:solidFill>
                          <a:latin typeface="Calibri"/>
                        </a:rPr>
                        <a:t>377</a:t>
                      </a:r>
                    </a:p>
                  </a:txBody>
                  <a:tcPr marL="43200" marR="43200" marT="18000">
                    <a:solidFill>
                      <a:srgbClr val="F8FDF8"/>
                    </a:solidFill>
                  </a:tcPr>
                </a:tc>
              </a:tr>
              <a:tr h="766285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2744"/>
                          </a:solidFill>
                          <a:latin typeface="Calibri"/>
                        </a:rPr>
                        <a:t>Интерпрет. β</a:t>
                      </a:r>
                    </a:p>
                  </a:txBody>
                  <a:tcPr marL="43200" marR="43200" marT="18000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F5C99"/>
                          </a:solidFill>
                          <a:latin typeface="Calibri"/>
                        </a:rPr>
                        <a:t>β&lt;1 → риск ↓</a:t>
                      </a:r>
                    </a:p>
                  </a:txBody>
                  <a:tcPr marL="43200" marR="43200" marT="18000">
                    <a:solidFill>
                      <a:srgbClr val="EB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D62728"/>
                          </a:solidFill>
                          <a:latin typeface="Calibri"/>
                        </a:rPr>
                        <a:t>β&gt;1 → риск ↑</a:t>
                      </a:r>
                    </a:p>
                  </a:txBody>
                  <a:tcPr marL="43200" marR="43200" marT="18000">
                    <a:solidFill>
                      <a:srgbClr val="FFF0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2CA02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3200" marR="43200" marT="18000">
                    <a:solidFill>
                      <a:srgbClr val="F0FB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