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84" r:id="rId5"/>
    <p:sldId id="261" r:id="rId6"/>
    <p:sldId id="259" r:id="rId7"/>
    <p:sldId id="260" r:id="rId8"/>
    <p:sldId id="264" r:id="rId9"/>
    <p:sldId id="265" r:id="rId10"/>
    <p:sldId id="287" r:id="rId11"/>
    <p:sldId id="288" r:id="rId12"/>
    <p:sldId id="268" r:id="rId13"/>
    <p:sldId id="269" r:id="rId14"/>
    <p:sldId id="289" r:id="rId15"/>
    <p:sldId id="290" r:id="rId16"/>
    <p:sldId id="291" r:id="rId17"/>
    <p:sldId id="292" r:id="rId18"/>
    <p:sldId id="293" r:id="rId19"/>
    <p:sldId id="294" r:id="rId20"/>
    <p:sldId id="276" r:id="rId21"/>
    <p:sldId id="295" r:id="rId22"/>
    <p:sldId id="296" r:id="rId23"/>
    <p:sldId id="297" r:id="rId24"/>
    <p:sldId id="270" r:id="rId25"/>
    <p:sldId id="271" r:id="rId26"/>
    <p:sldId id="273" r:id="rId27"/>
    <p:sldId id="274" r:id="rId28"/>
    <p:sldId id="275" r:id="rId29"/>
    <p:sldId id="278" r:id="rId30"/>
    <p:sldId id="279" r:id="rId31"/>
    <p:sldId id="280" r:id="rId32"/>
    <p:sldId id="281" r:id="rId33"/>
    <p:sldId id="285" r:id="rId34"/>
    <p:sldId id="286" r:id="rId35"/>
    <p:sldId id="266" r:id="rId36"/>
    <p:sldId id="272" r:id="rId37"/>
    <p:sldId id="263" r:id="rId38"/>
    <p:sldId id="277" r:id="rId39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2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CAEA3-9DF6-4DEC-96E0-B5DF31E4A2D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BED249-7D37-474F-B951-2156FBA71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5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BED249-7D37-474F-B951-2156FBA71E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4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BED249-7D37-474F-B951-2156FBA71E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67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1113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1A2744"/>
                </a:solidFill>
                <a:latin typeface="Calibri"/>
              </a:rPr>
              <a:t>Статистический</a:t>
            </a:r>
            <a:r>
              <a:rPr sz="30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A2744"/>
                </a:solidFill>
                <a:latin typeface="Calibri"/>
              </a:rPr>
              <a:t>Анализ</a:t>
            </a:r>
            <a:r>
              <a:rPr sz="30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A2744"/>
                </a:solidFill>
                <a:latin typeface="Calibri"/>
              </a:rPr>
              <a:t>Отказов</a:t>
            </a:r>
            <a:r>
              <a:rPr sz="3000" b="1" dirty="0">
                <a:solidFill>
                  <a:srgbClr val="1A2744"/>
                </a:solidFill>
                <a:latin typeface="Calibri"/>
              </a:rPr>
              <a:t> ЭЦН.</a:t>
            </a:r>
            <a:endParaRPr lang="en-US" sz="3000" b="1" dirty="0">
              <a:solidFill>
                <a:srgbClr val="1A2744"/>
              </a:solidFill>
              <a:latin typeface="Calibri"/>
            </a:endParaRPr>
          </a:p>
          <a:p>
            <a:r>
              <a:rPr lang="ru-RU" sz="2400" b="1" dirty="0">
                <a:solidFill>
                  <a:srgbClr val="222222"/>
                </a:solidFill>
                <a:latin typeface="Calibri"/>
              </a:rPr>
              <a:t>Эксплуатация ЭЦН с повышенной частотой.</a:t>
            </a:r>
          </a:p>
          <a:p>
            <a:endParaRPr sz="30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0000" y="3600000"/>
            <a:ext cx="1111320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 err="1">
                <a:solidFill>
                  <a:srgbClr val="222222"/>
                </a:solidFill>
                <a:latin typeface="Calibri"/>
              </a:rPr>
              <a:t>Ключев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вопрос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ru-RU" sz="1400" dirty="0">
                <a:solidFill>
                  <a:srgbClr val="222222"/>
                </a:solidFill>
                <a:latin typeface="Calibri"/>
              </a:rPr>
              <a:t>	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Сокращает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эксплуатация ЭЦН с повышенной частотой ННО (глобально и для </a:t>
            </a:r>
            <a:r>
              <a:rPr sz="1400" dirty="0">
                <a:solidFill>
                  <a:srgbClr val="222222"/>
                </a:solidFill>
                <a:latin typeface="Calibri"/>
              </a:rPr>
              <a:t>Vt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ru-RU" sz="1400" dirty="0">
                <a:solidFill>
                  <a:srgbClr val="222222"/>
                </a:solidFill>
                <a:latin typeface="Calibri"/>
              </a:rPr>
              <a:t>	Какие существуют риски для оборудования </a:t>
            </a:r>
            <a:r>
              <a:rPr sz="1400" dirty="0">
                <a:solidFill>
                  <a:srgbClr val="222222"/>
                </a:solidFill>
                <a:latin typeface="Calibri"/>
              </a:rPr>
              <a:t>?</a:t>
            </a: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ru-RU" sz="1400" dirty="0">
                <a:solidFill>
                  <a:srgbClr val="222222"/>
                </a:solidFill>
                <a:latin typeface="Calibri"/>
              </a:rPr>
              <a:t>Данные: 2634 записи данных эксплуатации,  1527 отказов, 2015–2025 гг.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40651" y="3548563"/>
            <a:ext cx="1140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>
                <a:solidFill>
                  <a:srgbClr val="B36A00"/>
                </a:solidFill>
                <a:latin typeface="Calibri"/>
              </a:rPr>
              <a:t>Cycling (30↔65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)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опаснее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стабильной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работы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при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60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Устойчивый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режим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600" i="1" dirty="0" err="1">
                <a:solidFill>
                  <a:srgbClr val="B36A00"/>
                </a:solidFill>
                <a:latin typeface="Calibri"/>
              </a:rPr>
              <a:t>нейтрален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данным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0264794"/>
                  </p:ext>
                </p:extLst>
              </p:nvPr>
            </p:nvGraphicFramePr>
            <p:xfrm>
              <a:off x="396000" y="1177200"/>
              <a:ext cx="1140120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00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00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00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1" dirty="0" err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Вопрос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Ответ</a:t>
                          </a: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Уверенность</a:t>
                          </a: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Безопасна ли работа &gt;50% времени &gt;55 Гц?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Нейтрально (HR=0.96, +20 дн. TTF)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Опасна ли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≈60 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Hz</m:t>
                              </m:r>
                            </m:oMath>
                          </a14:m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𝑚𝑒𝑎𝑛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&gt;58 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Hz</m:t>
                              </m:r>
                            </m:oMath>
                          </a14:m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) для Vt?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Да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—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неопределенный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сигнал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Низкая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(n=24)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Насколько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сокращается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Н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О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при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≈60 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Hz</m:t>
                              </m:r>
                            </m:oMath>
                          </a14:m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~30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дней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по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медиане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, </a:t>
                          </a:r>
                          <a:r>
                            <a:rPr lang="en-US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~25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дне по среднему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Ранние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отказы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(90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дн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.)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при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+mn-lt"/>
                            </a:rPr>
                            <a:t>при </a:t>
                          </a:r>
                          <a14:m>
                            <m:oMath xmlns:m="http://schemas.openxmlformats.org/officeDocument/2006/math">
                              <m:r>
                                <a:rPr lang="ru-RU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ru-RU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≈60 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Hz</m:t>
                              </m:r>
                            </m:oMath>
                          </a14:m>
                          <a:r>
                            <a:rPr lang="en-US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для 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Vt?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57% vs 34% — сильнейший сигнал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Есть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ли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фиксированный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накопленный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Гц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ресурс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Нет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— 4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теста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отклонили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Что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ломается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первым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+mn-lt"/>
                            </a:rPr>
                            <a:t>при </a:t>
                          </a:r>
                          <a14:m>
                            <m:oMath xmlns:m="http://schemas.openxmlformats.org/officeDocument/2006/math">
                              <m:r>
                                <a:rPr lang="ru-RU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ru-RU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≈60 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Hz</m:t>
                              </m:r>
                            </m:oMath>
                          </a14:m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?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Засорение РО → ПЭД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Главный фактор риска в Vt?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H₂S-среда &gt; частота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Высокая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0264794"/>
                  </p:ext>
                </p:extLst>
              </p:nvPr>
            </p:nvGraphicFramePr>
            <p:xfrm>
              <a:off x="396000" y="1177200"/>
              <a:ext cx="1140120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00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00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00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1" dirty="0" err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Вопрос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Ответ</a:t>
                          </a: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Уверенность</a:t>
                          </a: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Безопасна ли работа &gt;50% времени &gt;55 Гц?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Нейтрально (HR=0.96, +20 дн. TTF)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0" t="-202222" r="-200641" b="-5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Да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—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неопределенный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сигнал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Низкая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(n=24)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0" t="-295652" r="-200641" b="-4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~30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дней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по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медиане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, </a:t>
                          </a:r>
                          <a:r>
                            <a:rPr lang="en-US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~25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дне по среднему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0" t="-404444" r="-200641" b="-3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57% vs 34% — сильнейший сигнал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Есть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ли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фиксированный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накопленный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Гц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ресурс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Нет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— 4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теста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отклонили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0" t="-604444" r="-200641" b="-1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Засорение РО → ПЭД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Главный фактор риска в Vt?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H₂S-среда &gt; частота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Высокая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1A2744"/>
                </a:solidFill>
                <a:latin typeface="Calibri"/>
              </a:rPr>
              <a:t>Данные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и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Метод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96000" y="817200"/>
                <a:ext cx="11401200" cy="35394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Датасет</a:t>
                </a:r>
                <a:endParaRPr sz="1600" b="1" dirty="0">
                  <a:solidFill>
                    <a:srgbClr val="1F5C99"/>
                  </a:solidFill>
                  <a:latin typeface="Calibri"/>
                </a:endParaRPr>
              </a:p>
              <a:p>
                <a:pPr>
                  <a:spcBef>
                    <a:spcPts val="200"/>
                  </a:spcBef>
                  <a:spcAft>
                    <a:spcPts val="100"/>
                  </a:spcAft>
                </a:pPr>
                <a:endParaRPr sz="1600" b="1" dirty="0">
                  <a:solidFill>
                    <a:srgbClr val="1F5C99"/>
                  </a:solidFill>
                  <a:latin typeface="Calibri"/>
                </a:endParaRPr>
              </a:p>
              <a:p>
                <a:pPr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Определение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 «</a:t>
                </a: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высокой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 </a:t>
                </a: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частоты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» — </a:t>
                </a: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используемое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 в </a:t>
                </a: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данном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 </a:t>
                </a: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анализе</a:t>
                </a:r>
                <a:endParaRPr sz="1600" b="1" dirty="0">
                  <a:solidFill>
                    <a:srgbClr val="1F5C99"/>
                  </a:solidFill>
                  <a:latin typeface="Calibri"/>
                </a:endParaRPr>
              </a:p>
              <a:p>
                <a:pPr>
                  <a:spcBef>
                    <a:spcPts val="200"/>
                  </a:spcBef>
                  <a:spcAft>
                    <a:spcPts val="100"/>
                  </a:spcAft>
                </a:pPr>
                <a:endParaRPr sz="1600" b="1" dirty="0">
                  <a:solidFill>
                    <a:srgbClr val="1F5C99"/>
                  </a:solidFill>
                  <a:latin typeface="Calibri"/>
                </a:endParaRPr>
              </a:p>
              <a:p>
                <a:pPr lvl="1">
                  <a:spcBef>
                    <a:spcPts val="200"/>
                  </a:spcBef>
                  <a:spcAft>
                    <a:spcPts val="100"/>
                  </a:spcAft>
                </a:pPr>
                <a:r>
                  <a:rPr lang="ru-RU" sz="1400" dirty="0">
                    <a:solidFill>
                      <a:srgbClr val="222222"/>
                    </a:solidFill>
                    <a:latin typeface="Calibri"/>
                  </a:rPr>
                  <a:t>• Базис: средняя частота 50–55 Гц → 92 прогона в Vt</a:t>
                </a:r>
              </a:p>
              <a:p>
                <a:pPr lvl="1"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•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Широкое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(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основное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):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доля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дней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выше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55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Гц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/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всего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дней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&gt; 50% → 57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прогонов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в Vt</a:t>
                </a:r>
              </a:p>
              <a:p>
                <a:pPr lvl="1"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•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Узкое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ru-RU" sz="14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14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≈60 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):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средн</a:t>
                </a:r>
                <a:r>
                  <a:rPr lang="ru-RU" sz="1400" dirty="0">
                    <a:solidFill>
                      <a:srgbClr val="222222"/>
                    </a:solidFill>
                    <a:latin typeface="Calibri"/>
                  </a:rPr>
                  <a:t>яя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lang="ru-RU" sz="1400" dirty="0">
                    <a:solidFill>
                      <a:srgbClr val="222222"/>
                    </a:solidFill>
                    <a:latin typeface="Calibri"/>
                  </a:rPr>
                  <a:t>частота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&gt; 58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Гц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→ 24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прогона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в Vt</a:t>
                </a:r>
                <a:r>
                  <a:rPr lang="ru-RU" sz="1400" dirty="0">
                    <a:solidFill>
                      <a:srgbClr val="222222"/>
                    </a:solidFill>
                    <a:latin typeface="Calibri"/>
                  </a:rPr>
                  <a:t> – недостаточное количество данных для уверенных выводов</a:t>
                </a:r>
                <a:endParaRPr sz="1400" dirty="0">
                  <a:solidFill>
                    <a:srgbClr val="222222"/>
                  </a:solidFill>
                  <a:latin typeface="Calibri"/>
                </a:endParaRPr>
              </a:p>
              <a:p>
                <a:pPr>
                  <a:spcBef>
                    <a:spcPts val="200"/>
                  </a:spcBef>
                  <a:spcAft>
                    <a:spcPts val="100"/>
                  </a:spcAft>
                </a:pPr>
                <a:endParaRPr sz="1400" dirty="0">
                  <a:solidFill>
                    <a:srgbClr val="222222"/>
                  </a:solidFill>
                  <a:latin typeface="Calibri"/>
                </a:endParaRPr>
              </a:p>
              <a:p>
                <a:pPr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Оси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 </a:t>
                </a: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времени</a:t>
                </a:r>
                <a:endParaRPr sz="1600" b="1" dirty="0">
                  <a:solidFill>
                    <a:srgbClr val="1F5C99"/>
                  </a:solidFill>
                  <a:latin typeface="Calibri"/>
                </a:endParaRPr>
              </a:p>
              <a:p>
                <a:pPr>
                  <a:spcBef>
                    <a:spcPts val="200"/>
                  </a:spcBef>
                  <a:spcAft>
                    <a:spcPts val="100"/>
                  </a:spcAft>
                </a:pPr>
                <a:endParaRPr sz="1600" b="1" dirty="0">
                  <a:solidFill>
                    <a:srgbClr val="1F5C99"/>
                  </a:solidFill>
                  <a:latin typeface="Calibri"/>
                </a:endParaRPr>
              </a:p>
              <a:p>
                <a:pPr lvl="1"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•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TTF_true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: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от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ввода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скважины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до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отказа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/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цензуры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(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основная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)</a:t>
                </a:r>
              </a:p>
              <a:p>
                <a:pPr lvl="1"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•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best_available_days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: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TTF_true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или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run_days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—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наибольшее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покрытие</a:t>
                </a:r>
                <a:endParaRPr sz="1400" dirty="0">
                  <a:solidFill>
                    <a:srgbClr val="222222"/>
                  </a:solidFill>
                  <a:latin typeface="Calibri"/>
                </a:endParaRPr>
              </a:p>
              <a:p>
                <a:pPr lvl="1"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• TRF (50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Гц-экв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.): Σ(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freq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×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дней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) / 50 —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для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теста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гипотезы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бюджета</a:t>
                </a:r>
                <a:endParaRPr sz="1400" dirty="0">
                  <a:solidFill>
                    <a:srgbClr val="222222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00" y="817200"/>
                <a:ext cx="11401200" cy="3539430"/>
              </a:xfrm>
              <a:prstGeom prst="rect">
                <a:avLst/>
              </a:prstGeom>
              <a:blipFill>
                <a:blip r:embed="rId2"/>
                <a:stretch>
                  <a:fillRect l="-321" t="-516" b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030694"/>
              </p:ext>
            </p:extLst>
          </p:nvPr>
        </p:nvGraphicFramePr>
        <p:xfrm>
          <a:off x="396000" y="3056400"/>
          <a:ext cx="11401200" cy="181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Значение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Источник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mart__vt_freq55, pump2.db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Период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2015–2025 гг.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Всего прогонов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Отказов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1 527 (58%)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Цензурированных</a:t>
                      </a:r>
                      <a:r>
                        <a:rPr lang="ru-RU"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(ГТМ и прочее, + в эксплуатации)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1 107 (42%)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Прогонов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в Vt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410 (16%)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25999"/>
            <a:ext cx="820628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2200" b="1" dirty="0">
                <a:solidFill>
                  <a:srgbClr val="1A2744"/>
                </a:solidFill>
                <a:latin typeface="Calibri"/>
              </a:rPr>
              <a:t>Данные и Метод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—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Классическая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Weibull-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модель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выживаемости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702000"/>
            <a:ext cx="12193200" cy="288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64000"/>
            <a:ext cx="4320000" cy="3767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8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1F5C99"/>
                </a:solidFill>
                <a:latin typeface="Calibri"/>
              </a:rPr>
              <a:t>задаёт</a:t>
            </a:r>
            <a:r>
              <a:rPr sz="18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1F5C99"/>
                </a:solidFill>
                <a:latin typeface="Calibri"/>
              </a:rPr>
              <a:t>модель</a:t>
            </a:r>
            <a:endParaRPr sz="18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Функция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выживания</a:t>
            </a:r>
            <a:r>
              <a:rPr sz="1500" dirty="0">
                <a:solidFill>
                  <a:srgbClr val="222222"/>
                </a:solidFill>
                <a:latin typeface="Calibri"/>
              </a:rPr>
              <a:t>: S(t) = exp(-(t/η)^β).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β —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параметр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формы</a:t>
            </a:r>
            <a:r>
              <a:rPr sz="1500" dirty="0">
                <a:solidFill>
                  <a:srgbClr val="222222"/>
                </a:solidFill>
                <a:latin typeface="Calibri"/>
              </a:rPr>
              <a:t>: </a:t>
            </a:r>
            <a:endParaRPr lang="ru-RU" sz="15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ru-RU" sz="1500" dirty="0">
                <a:solidFill>
                  <a:srgbClr val="222222"/>
                </a:solidFill>
                <a:latin typeface="Calibri"/>
              </a:rPr>
              <a:t>	</a:t>
            </a:r>
            <a:r>
              <a:rPr sz="1500" dirty="0">
                <a:solidFill>
                  <a:srgbClr val="222222"/>
                </a:solidFill>
                <a:latin typeface="Calibri"/>
              </a:rPr>
              <a:t>β &lt; 1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ранние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отказы</a:t>
            </a:r>
            <a:r>
              <a:rPr lang="ru-RU" sz="1500" dirty="0">
                <a:solidFill>
                  <a:srgbClr val="222222"/>
                </a:solidFill>
                <a:latin typeface="Calibri"/>
              </a:rPr>
              <a:t> (вероятность 	отказа уменьшается со временем)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ru-RU" sz="1500" dirty="0">
                <a:solidFill>
                  <a:srgbClr val="222222"/>
                </a:solidFill>
                <a:latin typeface="Calibri"/>
              </a:rPr>
              <a:t>	</a:t>
            </a:r>
            <a:r>
              <a:rPr sz="1500" dirty="0">
                <a:solidFill>
                  <a:srgbClr val="222222"/>
                </a:solidFill>
                <a:latin typeface="Calibri"/>
              </a:rPr>
              <a:t>β ≈ 1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случайные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отказы</a:t>
            </a:r>
            <a:r>
              <a:rPr lang="ru-RU" sz="1500" dirty="0">
                <a:solidFill>
                  <a:srgbClr val="222222"/>
                </a:solidFill>
                <a:latin typeface="Calibri"/>
              </a:rPr>
              <a:t> (вероятность 	отказа постоянна все время эксплуатации)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ru-RU" sz="1500" dirty="0">
                <a:solidFill>
                  <a:srgbClr val="222222"/>
                </a:solidFill>
                <a:latin typeface="Calibri"/>
              </a:rPr>
              <a:t>	</a:t>
            </a:r>
            <a:r>
              <a:rPr sz="1500" dirty="0">
                <a:solidFill>
                  <a:srgbClr val="222222"/>
                </a:solidFill>
                <a:latin typeface="Calibri"/>
              </a:rPr>
              <a:t>β &gt; 1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износ</a:t>
            </a:r>
            <a:r>
              <a:rPr sz="1500" dirty="0">
                <a:solidFill>
                  <a:srgbClr val="222222"/>
                </a:solidFill>
                <a:latin typeface="Calibri"/>
              </a:rPr>
              <a:t>.</a:t>
            </a:r>
            <a:r>
              <a:rPr lang="ru-RU" sz="1500" dirty="0">
                <a:solidFill>
                  <a:srgbClr val="222222"/>
                </a:solidFill>
                <a:latin typeface="Calibri"/>
              </a:rPr>
              <a:t> (вероятность отказа 	возрастает со временем)</a:t>
            </a:r>
            <a:endParaRPr sz="15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η —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параметр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масштаба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(characteristic life):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t = η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имеем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S(t) = e^-1 ≈ 36.8%.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Средняя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наработка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E[T] и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медиана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B50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обычно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совпадают</a:t>
            </a:r>
            <a:r>
              <a:rPr sz="15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это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разные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характеристики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ресурса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879" y="4631698"/>
            <a:ext cx="4320000" cy="2100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8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1F5C99"/>
                </a:solidFill>
                <a:latin typeface="Calibri"/>
              </a:rPr>
              <a:t>отмечено</a:t>
            </a:r>
            <a:r>
              <a:rPr sz="18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1F5C99"/>
                </a:solidFill>
                <a:latin typeface="Calibri"/>
              </a:rPr>
              <a:t>на</a:t>
            </a:r>
            <a:r>
              <a:rPr sz="18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1F5C99"/>
                </a:solidFill>
                <a:latin typeface="Calibri"/>
              </a:rPr>
              <a:t>кривой</a:t>
            </a:r>
            <a:endParaRPr sz="18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B10 = 103 д: к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этому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сроку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отказало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~10%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парка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B50 = 334 д: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медианный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срок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службы</a:t>
            </a:r>
            <a:r>
              <a:rPr sz="150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η = 420 д: characteristic life, S(η) ≈ 36.8%.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E[T] = 377 д: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средняя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наработка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до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отказа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S(180) = 0.77: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надёжность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выбранном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горизонте</a:t>
            </a:r>
            <a:r>
              <a:rPr lang="ru-RU" sz="1500" dirty="0">
                <a:solidFill>
                  <a:srgbClr val="222222"/>
                </a:solidFill>
                <a:latin typeface="Calibri"/>
              </a:rPr>
              <a:t> в 180 дней.</a:t>
            </a:r>
            <a:endParaRPr sz="1500" dirty="0">
              <a:solidFill>
                <a:srgbClr val="222222"/>
              </a:solidFill>
              <a:latin typeface="Calibri"/>
            </a:endParaRPr>
          </a:p>
        </p:txBody>
      </p:sp>
      <p:pic>
        <p:nvPicPr>
          <p:cNvPr id="6" name="Picture 5" descr="weibull_single_curve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0" y="900000"/>
            <a:ext cx="6552000" cy="482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37709" y="6156000"/>
            <a:ext cx="655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 dirty="0" err="1">
                <a:solidFill>
                  <a:srgbClr val="B36A00"/>
                </a:solidFill>
                <a:latin typeface="Calibri"/>
              </a:rPr>
              <a:t>Иллюстративный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пример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: β = 1.60, η = 420 д.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При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β &gt; 1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отказа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растёт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мере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старения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1BA7A8-1CDD-49A1-DA96-11CE225A9D41}"/>
              </a:ext>
            </a:extLst>
          </p:cNvPr>
          <p:cNvSpPr txBox="1"/>
          <p:nvPr/>
        </p:nvSpPr>
        <p:spPr>
          <a:xfrm flipH="1">
            <a:off x="6282132" y="5578867"/>
            <a:ext cx="4618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Доля скважин «доживших» до момента времени </a:t>
            </a:r>
            <a:r>
              <a:rPr lang="en-US" i="1" dirty="0"/>
              <a:t>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A345FE-CF2F-4EAA-D25C-B5857348064E}"/>
              </a:ext>
            </a:extLst>
          </p:cNvPr>
          <p:cNvCxnSpPr>
            <a:cxnSpLocks/>
          </p:cNvCxnSpPr>
          <p:nvPr/>
        </p:nvCxnSpPr>
        <p:spPr>
          <a:xfrm flipH="1" flipV="1">
            <a:off x="5522360" y="4124623"/>
            <a:ext cx="837343" cy="1495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Kaplan-Meier: выживаемость с цензурированием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4809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показывает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кривая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KM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S(t) = P(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жив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момент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t)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убывает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1.0 к 0.0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Вертикальные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«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ступени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»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моменты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зафиксированных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= 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S(t) = 0.5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время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к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которому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половина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отказала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Логранк-тест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(log-rank test)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Сравнивает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две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или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более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групп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кривой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только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медиане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p &lt; 0.05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группы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статистически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различимы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Малые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выборки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широкие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ДИ и p &gt; 0.05,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большом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фактическом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разрыве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Медианная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разница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в 30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дней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клинически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значима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для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операций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даже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если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p &gt; 0.05.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pic>
        <p:nvPicPr>
          <p:cNvPr id="5" name="Picture 4" descr="km_vt_vs_glob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144" y="1606248"/>
            <a:ext cx="6100055" cy="40667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61BAE5-01A6-FC8E-F2FE-8645A0EB5097}"/>
              </a:ext>
            </a:extLst>
          </p:cNvPr>
          <p:cNvSpPr txBox="1"/>
          <p:nvPr/>
        </p:nvSpPr>
        <p:spPr>
          <a:xfrm flipH="1">
            <a:off x="7150299" y="5435567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ННО, дни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8278F2-51E5-1779-93F9-8B9CC10A4F28}"/>
              </a:ext>
            </a:extLst>
          </p:cNvPr>
          <p:cNvSpPr txBox="1"/>
          <p:nvPr/>
        </p:nvSpPr>
        <p:spPr>
          <a:xfrm rot="16200000" flipH="1">
            <a:off x="4092025" y="3404709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Выживаемость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DB6270-A1C9-0684-3BDF-08297EEE691F}"/>
              </a:ext>
            </a:extLst>
          </p:cNvPr>
          <p:cNvSpPr txBox="1"/>
          <p:nvPr/>
        </p:nvSpPr>
        <p:spPr>
          <a:xfrm flipH="1">
            <a:off x="7369481" y="1375415"/>
            <a:ext cx="333447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Сравнение кривых выживаемости для </a:t>
            </a:r>
            <a:r>
              <a:rPr lang="en-US" sz="1200" dirty="0"/>
              <a:t>Vt </a:t>
            </a:r>
            <a:r>
              <a:rPr lang="ru-RU" sz="1200" dirty="0"/>
              <a:t>и всего фонда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Структура данных: категории отказов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7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стандартных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категорий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алгоритму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классификации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β &lt; 1 → «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детская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смертность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»: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риск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убывает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временем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β = 1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случайный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постоянный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риск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β &gt; 1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накопленный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износ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риск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нарастает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временем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только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ПЭД в Vt!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4917769"/>
                  </p:ext>
                </p:extLst>
              </p:nvPr>
            </p:nvGraphicFramePr>
            <p:xfrm>
              <a:off x="396000" y="2730378"/>
              <a:ext cx="11401200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00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00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00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Категория</a:t>
                          </a: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Отказавший узел</a:t>
                          </a: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Паттерн в Vt</a:t>
                          </a: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КЛ (R-0)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Кабельная линия, ТМС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η=91 дн., β=0.73 — ранний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ПЭД (R-0)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ПЭД (электродвигатель)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η=155 дн., β=1.12 — wear-out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Слом вала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ЭЦН, вал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β &lt; 1, случайный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Засорение РО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ЭЦН, рабочие органы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β &lt; 1, </a:t>
                          </a:r>
                          <a:r>
                            <a:rPr sz="11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ранний</a:t>
                          </a:r>
                          <a:r>
                            <a:rPr sz="11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1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при</a:t>
                          </a:r>
                          <a:r>
                            <a:rPr sz="11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ru-RU" sz="11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ru-RU" sz="11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≈60 </m:t>
                              </m:r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Hz</m:t>
                              </m:r>
                            </m:oMath>
                          </a14:m>
                          <a:endParaRPr sz="11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НКТ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НКТ, подвеска, клапаны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β &lt; 1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Износ РО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ЭЦН, рабочие органы (износ)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β &lt; 1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Гидрозащита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Гидрозащита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β &lt; 1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4917769"/>
                  </p:ext>
                </p:extLst>
              </p:nvPr>
            </p:nvGraphicFramePr>
            <p:xfrm>
              <a:off x="396000" y="2730378"/>
              <a:ext cx="11401200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00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00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00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Категория</a:t>
                          </a: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Отказавший узел</a:t>
                          </a: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Паттерн в Vt</a:t>
                          </a: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КЛ (R-0)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Кабельная линия, ТМС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η=91 дн., β=0.73 — ранний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ПЭД (R-0)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ПЭД (электродвигатель)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η=155 дн., β=1.12 — wear-out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Слом вала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ЭЦН, вал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β &lt; 1, случайный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Засорение РО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ЭЦН, рабочие органы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160" t="-409524" r="-641" b="-31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НКТ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НКТ, подвеска, клапаны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β &lt; 1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Износ РО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ЭЦН, рабочие органы (износ)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β &lt; 1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Гидрозащита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Гидрозащита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β &lt; 1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1A2744"/>
                </a:solidFill>
                <a:latin typeface="Calibri"/>
              </a:rPr>
              <a:t>Проблемы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данных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: </a:t>
            </a:r>
            <a:r>
              <a:rPr lang="ru-RU" sz="2200" b="1" dirty="0">
                <a:solidFill>
                  <a:srgbClr val="1A2744"/>
                </a:solidFill>
                <a:latin typeface="Calibri"/>
              </a:rPr>
              <a:t>ННО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и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телеметрия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Источники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неопределённости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lang="ru-RU" sz="1600" b="1" dirty="0">
                <a:solidFill>
                  <a:srgbClr val="1F5C99"/>
                </a:solidFill>
                <a:latin typeface="Calibri"/>
              </a:rPr>
              <a:t>ННО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вычисляется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разница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дат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остановки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дат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монтажа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 без учета фактического простоя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Округление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суток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погрешность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±1–3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каждый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конец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Задержка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фиксации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события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базе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систематическое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завышение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Проблема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цензурирования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42%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прогонов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цензурированы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работает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или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снят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плану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Наивный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расчёт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среднего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учёта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цензурирования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даёт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занижение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реального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ресурса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Решение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Kaplan-Meier и Cox PH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методы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корректно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учитывающие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цензурирование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Телеметрия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частоты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19–23%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прогонов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имеют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достаточной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телеметрии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(&lt; 10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прогоны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исключены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анализа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входят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общий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KM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Bias: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телеметрии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умирают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быстро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~20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отсутствие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улучшает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выживаемость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групп</a:t>
            </a:r>
            <a:endParaRPr sz="1400" dirty="0">
              <a:solidFill>
                <a:srgbClr val="22222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Структура отказов: Vt vs Global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Vt: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электромеханические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(КЛ + ПЭД) = 46%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переизбыток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относительно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всего фонда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ПЭД в Vt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единственная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категория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паттерном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износа </a:t>
            </a:r>
            <a:r>
              <a:rPr sz="1400" dirty="0">
                <a:solidFill>
                  <a:srgbClr val="222222"/>
                </a:solidFill>
                <a:latin typeface="Calibri"/>
              </a:rPr>
              <a:t>(β &gt; 1)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всём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датасете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КЛ в Vt: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наступает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η=91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большинство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первые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3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месяца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Гидрозащита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Vt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недопредставлена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возможно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выходит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составе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ПЭД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>
                <a:solidFill>
                  <a:srgbClr val="B36A00"/>
                </a:solidFill>
                <a:latin typeface="Calibri"/>
              </a:rPr>
              <a:t>H₂S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разрушает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изоляцию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ПЭД и КЛ.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Это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объясняет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переизбыток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электромеханических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отказов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в Vt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задолго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вопроса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о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частоте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499839"/>
              </p:ext>
            </p:extLst>
          </p:nvPr>
        </p:nvGraphicFramePr>
        <p:xfrm>
          <a:off x="486000" y="4052207"/>
          <a:ext cx="5121144" cy="181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 (R-0)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(R-0)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+5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+3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−3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Гидрозащита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−5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5" descr="vt_vs_global_failur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809583"/>
            <a:ext cx="6100056" cy="36600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Глобальный фонд: Kaplan-Meier по группам частоты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96000" y="817200"/>
                <a:ext cx="5121144" cy="3724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Анализ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 </a:t>
                </a: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выживаемости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 </a:t>
                </a: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по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 </a:t>
                </a: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частотным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 </a:t>
                </a: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группам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 (</a:t>
                </a: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Глобальный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 </a:t>
                </a: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фонд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)</a:t>
                </a:r>
              </a:p>
              <a:p>
                <a:pPr>
                  <a:spcBef>
                    <a:spcPts val="200"/>
                  </a:spcBef>
                  <a:spcAft>
                    <a:spcPts val="100"/>
                  </a:spcAft>
                </a:pPr>
                <a:endParaRPr sz="1600" b="1" dirty="0">
                  <a:solidFill>
                    <a:srgbClr val="1F5C99"/>
                  </a:solidFill>
                  <a:latin typeface="Calibri"/>
                </a:endParaRPr>
              </a:p>
              <a:p>
                <a:pPr lvl="1"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•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Базис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(50–55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Гц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): 715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прогонов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,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медиана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lang="ru-RU" sz="1400" dirty="0">
                    <a:solidFill>
                      <a:srgbClr val="222222"/>
                    </a:solidFill>
                    <a:latin typeface="Calibri"/>
                  </a:rPr>
                  <a:t>ННО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= 152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дн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.</a:t>
                </a:r>
              </a:p>
              <a:p>
                <a:pPr lvl="1"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• </a:t>
                </a:r>
                <a14:m>
                  <m:oMath xmlns:m="http://schemas.openxmlformats.org/officeDocument/2006/math">
                    <m:r>
                      <a:rPr lang="ru-RU" sz="14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14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≈60 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(&gt;58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Гц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): 176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прогонов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,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медиана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lang="ru-RU" sz="1400" dirty="0">
                    <a:solidFill>
                      <a:srgbClr val="222222"/>
                    </a:solidFill>
                    <a:latin typeface="Calibri"/>
                  </a:rPr>
                  <a:t>ННО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= 126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дн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. (−26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дн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.)</a:t>
                </a:r>
              </a:p>
              <a:p>
                <a:pPr lvl="1"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• Cox HR (</a:t>
                </a:r>
                <a:r>
                  <a:rPr lang="ru-RU" sz="1400" dirty="0">
                    <a:solidFill>
                      <a:srgbClr val="222222"/>
                    </a:solidFill>
                    <a:latin typeface="Calibri"/>
                  </a:rPr>
                  <a:t>ННО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) = 1.31 [1.04–1.65], p = 0.024 —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статистически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значимо</a:t>
                </a:r>
                <a:endParaRPr sz="1400" dirty="0">
                  <a:solidFill>
                    <a:srgbClr val="222222"/>
                  </a:solidFill>
                  <a:latin typeface="Calibri"/>
                </a:endParaRPr>
              </a:p>
              <a:p>
                <a:pPr lvl="1"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•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На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TRF-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оси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HR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падает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до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1.06 (p=0.68) —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насосы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не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теряют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суммарный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Гц-ресурс</a:t>
                </a:r>
                <a:endParaRPr sz="1400" dirty="0">
                  <a:solidFill>
                    <a:srgbClr val="222222"/>
                  </a:solidFill>
                  <a:latin typeface="Calibri"/>
                </a:endParaRPr>
              </a:p>
              <a:p>
                <a:pPr>
                  <a:spcBef>
                    <a:spcPts val="200"/>
                  </a:spcBef>
                  <a:spcAft>
                    <a:spcPts val="100"/>
                  </a:spcAft>
                </a:pPr>
                <a:endParaRPr sz="1400" dirty="0">
                  <a:solidFill>
                    <a:srgbClr val="222222"/>
                  </a:solidFill>
                  <a:latin typeface="Calibri"/>
                </a:endParaRPr>
              </a:p>
              <a:p>
                <a:pPr lvl="1"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Для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Global: </a:t>
                </a:r>
                <a14:m>
                  <m:oMath xmlns:m="http://schemas.openxmlformats.org/officeDocument/2006/math">
                    <m:r>
                      <a:rPr lang="ru-RU" sz="14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14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≈60 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</a:t>
                </a: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статистически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</a:t>
                </a: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значимо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</a:t>
                </a: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сокращает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</a:t>
                </a:r>
                <a:r>
                  <a:rPr lang="ru-RU" sz="1400" i="1" dirty="0">
                    <a:solidFill>
                      <a:srgbClr val="B36A00"/>
                    </a:solidFill>
                    <a:latin typeface="Calibri"/>
                  </a:rPr>
                  <a:t>ННО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</a:t>
                </a: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на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26 </a:t>
                </a: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дней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. </a:t>
                </a: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Это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</a:t>
                </a: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самый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</a:t>
                </a: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надёжный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</a:t>
                </a: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результат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(n=176).</a:t>
                </a:r>
              </a:p>
              <a:p>
                <a:pPr>
                  <a:spcBef>
                    <a:spcPts val="200"/>
                  </a:spcBef>
                  <a:spcAft>
                    <a:spcPts val="100"/>
                  </a:spcAft>
                </a:pPr>
                <a:endParaRPr sz="1400" i="1" dirty="0">
                  <a:solidFill>
                    <a:srgbClr val="B36A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00" y="817200"/>
                <a:ext cx="5121144" cy="3724096"/>
              </a:xfrm>
              <a:prstGeom prst="rect">
                <a:avLst/>
              </a:prstGeom>
              <a:blipFill>
                <a:blip r:embed="rId2"/>
                <a:stretch>
                  <a:fillRect l="-714" t="-491" r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rue60_km_glob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144" y="1558404"/>
            <a:ext cx="6100056" cy="41623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F5B3E6-A97C-2ED9-1C3C-220A8400B528}"/>
              </a:ext>
            </a:extLst>
          </p:cNvPr>
          <p:cNvSpPr txBox="1"/>
          <p:nvPr/>
        </p:nvSpPr>
        <p:spPr>
          <a:xfrm flipH="1">
            <a:off x="7150299" y="5473667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ННО, дни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28057-5FC8-F91C-82E1-5C82A982280E}"/>
              </a:ext>
            </a:extLst>
          </p:cNvPr>
          <p:cNvSpPr txBox="1"/>
          <p:nvPr/>
        </p:nvSpPr>
        <p:spPr>
          <a:xfrm rot="16200000" flipH="1">
            <a:off x="4092025" y="3404709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Выживаемость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61FBF-38CD-5B95-D483-308957593314}"/>
              </a:ext>
            </a:extLst>
          </p:cNvPr>
          <p:cNvSpPr txBox="1"/>
          <p:nvPr/>
        </p:nvSpPr>
        <p:spPr>
          <a:xfrm flipH="1">
            <a:off x="7369481" y="1326065"/>
            <a:ext cx="333447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Сравнение кривых выживаемости для всего фонда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1A2744"/>
                </a:solidFill>
                <a:latin typeface="Calibri"/>
              </a:rPr>
              <a:t>Глобальный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фонд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: Kaplan-Meier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по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группам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частот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96000" y="817200"/>
                <a:ext cx="5121144" cy="3724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Анализ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 </a:t>
                </a: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выживаемости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 </a:t>
                </a: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по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 </a:t>
                </a: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частотным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 </a:t>
                </a: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группам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 (</a:t>
                </a: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Глобальный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 </a:t>
                </a:r>
                <a:r>
                  <a:rPr sz="1600" b="1" dirty="0" err="1">
                    <a:solidFill>
                      <a:srgbClr val="1F5C99"/>
                    </a:solidFill>
                    <a:latin typeface="Calibri"/>
                  </a:rPr>
                  <a:t>фонд</a:t>
                </a:r>
                <a:r>
                  <a:rPr sz="1600" b="1" dirty="0">
                    <a:solidFill>
                      <a:srgbClr val="1F5C99"/>
                    </a:solidFill>
                    <a:latin typeface="Calibri"/>
                  </a:rPr>
                  <a:t>)</a:t>
                </a:r>
              </a:p>
              <a:p>
                <a:pPr>
                  <a:spcBef>
                    <a:spcPts val="200"/>
                  </a:spcBef>
                  <a:spcAft>
                    <a:spcPts val="100"/>
                  </a:spcAft>
                </a:pPr>
                <a:endParaRPr sz="1600" b="1" dirty="0">
                  <a:solidFill>
                    <a:srgbClr val="1F5C99"/>
                  </a:solidFill>
                  <a:latin typeface="Calibri"/>
                </a:endParaRPr>
              </a:p>
              <a:p>
                <a:pPr lvl="1"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•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Базис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(50–55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Гц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): 715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прогонов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,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медиана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lang="ru-RU" sz="1400" dirty="0">
                    <a:solidFill>
                      <a:srgbClr val="222222"/>
                    </a:solidFill>
                    <a:latin typeface="Calibri"/>
                  </a:rPr>
                  <a:t>ННО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= 152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дн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.</a:t>
                </a:r>
              </a:p>
              <a:p>
                <a:pPr lvl="1"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• </a:t>
                </a:r>
                <a14:m>
                  <m:oMath xmlns:m="http://schemas.openxmlformats.org/officeDocument/2006/math">
                    <m:r>
                      <a:rPr lang="ru-RU" sz="14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14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≈60 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(&gt;58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Гц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): 176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прогонов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,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медиана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lang="ru-RU" sz="1400" dirty="0">
                    <a:solidFill>
                      <a:srgbClr val="222222"/>
                    </a:solidFill>
                    <a:latin typeface="Calibri"/>
                  </a:rPr>
                  <a:t>ННО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= 126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дн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. (−26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дн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.)</a:t>
                </a:r>
              </a:p>
              <a:p>
                <a:pPr lvl="1"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• Cox HR (</a:t>
                </a:r>
                <a:r>
                  <a:rPr lang="ru-RU" sz="1400" dirty="0">
                    <a:solidFill>
                      <a:srgbClr val="222222"/>
                    </a:solidFill>
                    <a:latin typeface="Calibri"/>
                  </a:rPr>
                  <a:t>ННО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) = 1.31 [1.04–1.65], p = 0.024 —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статистически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значимо</a:t>
                </a:r>
                <a:endParaRPr sz="1400" dirty="0">
                  <a:solidFill>
                    <a:srgbClr val="222222"/>
                  </a:solidFill>
                  <a:latin typeface="Calibri"/>
                </a:endParaRPr>
              </a:p>
              <a:p>
                <a:pPr lvl="1"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•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На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TRF-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оси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HR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падает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до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1.06 (p=0.68) —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насосы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не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теряют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суммарный</a:t>
                </a:r>
                <a:r>
                  <a:rPr sz="14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sz="1400" dirty="0" err="1">
                    <a:solidFill>
                      <a:srgbClr val="222222"/>
                    </a:solidFill>
                    <a:latin typeface="Calibri"/>
                  </a:rPr>
                  <a:t>Гц-ресурс</a:t>
                </a:r>
                <a:endParaRPr sz="1400" dirty="0">
                  <a:solidFill>
                    <a:srgbClr val="222222"/>
                  </a:solidFill>
                  <a:latin typeface="Calibri"/>
                </a:endParaRPr>
              </a:p>
              <a:p>
                <a:pPr>
                  <a:spcBef>
                    <a:spcPts val="200"/>
                  </a:spcBef>
                  <a:spcAft>
                    <a:spcPts val="100"/>
                  </a:spcAft>
                </a:pPr>
                <a:endParaRPr sz="1400" dirty="0">
                  <a:solidFill>
                    <a:srgbClr val="222222"/>
                  </a:solidFill>
                  <a:latin typeface="Calibri"/>
                </a:endParaRPr>
              </a:p>
              <a:p>
                <a:pPr lvl="1">
                  <a:spcBef>
                    <a:spcPts val="200"/>
                  </a:spcBef>
                  <a:spcAft>
                    <a:spcPts val="100"/>
                  </a:spcAft>
                </a:pP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Для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Global: </a:t>
                </a:r>
                <a14:m>
                  <m:oMath xmlns:m="http://schemas.openxmlformats.org/officeDocument/2006/math">
                    <m:r>
                      <a:rPr lang="ru-RU" sz="14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14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≈60 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</a:t>
                </a: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статистически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</a:t>
                </a: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значимо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</a:t>
                </a: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сокращает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</a:t>
                </a:r>
                <a:r>
                  <a:rPr lang="ru-RU" sz="1400" i="1" dirty="0">
                    <a:solidFill>
                      <a:srgbClr val="B36A00"/>
                    </a:solidFill>
                    <a:latin typeface="Calibri"/>
                  </a:rPr>
                  <a:t>ННО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</a:t>
                </a: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на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26 </a:t>
                </a: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дней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. </a:t>
                </a: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Это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</a:t>
                </a: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самый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</a:t>
                </a: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надёжный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</a:t>
                </a:r>
                <a:r>
                  <a:rPr sz="1400" i="1" dirty="0" err="1">
                    <a:solidFill>
                      <a:srgbClr val="B36A00"/>
                    </a:solidFill>
                    <a:latin typeface="Calibri"/>
                  </a:rPr>
                  <a:t>результат</a:t>
                </a:r>
                <a:r>
                  <a:rPr sz="1400" i="1" dirty="0">
                    <a:solidFill>
                      <a:srgbClr val="B36A00"/>
                    </a:solidFill>
                    <a:latin typeface="Calibri"/>
                  </a:rPr>
                  <a:t> (n=176).</a:t>
                </a:r>
              </a:p>
              <a:p>
                <a:pPr>
                  <a:spcBef>
                    <a:spcPts val="200"/>
                  </a:spcBef>
                  <a:spcAft>
                    <a:spcPts val="100"/>
                  </a:spcAft>
                </a:pPr>
                <a:endParaRPr sz="1400" i="1" dirty="0">
                  <a:solidFill>
                    <a:srgbClr val="B36A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00" y="817200"/>
                <a:ext cx="5121144" cy="3724096"/>
              </a:xfrm>
              <a:prstGeom prst="rect">
                <a:avLst/>
              </a:prstGeom>
              <a:blipFill>
                <a:blip r:embed="rId2"/>
                <a:stretch>
                  <a:fillRect l="-714" t="-491" r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rue60_km_glob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144" y="1558404"/>
            <a:ext cx="6100056" cy="41623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F5B3E6-A97C-2ED9-1C3C-220A8400B528}"/>
              </a:ext>
            </a:extLst>
          </p:cNvPr>
          <p:cNvSpPr txBox="1"/>
          <p:nvPr/>
        </p:nvSpPr>
        <p:spPr>
          <a:xfrm flipH="1">
            <a:off x="7150299" y="5473667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ННО, дни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28057-5FC8-F91C-82E1-5C82A982280E}"/>
              </a:ext>
            </a:extLst>
          </p:cNvPr>
          <p:cNvSpPr txBox="1"/>
          <p:nvPr/>
        </p:nvSpPr>
        <p:spPr>
          <a:xfrm rot="16200000" flipH="1">
            <a:off x="4092025" y="3404709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Выживаемость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61FBF-38CD-5B95-D483-308957593314}"/>
              </a:ext>
            </a:extLst>
          </p:cNvPr>
          <p:cNvSpPr txBox="1"/>
          <p:nvPr/>
        </p:nvSpPr>
        <p:spPr>
          <a:xfrm flipH="1">
            <a:off x="6676446" y="1331775"/>
            <a:ext cx="450391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Кривые выживаемости для всего фонда для базиса и повышеных частот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15621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1A2744"/>
                </a:solidFill>
                <a:latin typeface="Calibri"/>
              </a:rPr>
              <a:t>Глобальный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фонд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: Kaplan-Meier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по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группам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частот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Анализ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выживаемости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частотным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группам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lang="ru-RU" sz="1600" b="1" dirty="0">
                <a:solidFill>
                  <a:srgbClr val="1F5C99"/>
                </a:solidFill>
                <a:latin typeface="Calibri"/>
              </a:rPr>
              <a:t>с использованием накопленых частот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Глобально повышенные частоты «смотрятся» как базис с использованием накопленых частот в качестве параметра определения ресурса, медиана </a:t>
            </a:r>
            <a:r>
              <a:rPr lang="en-US" sz="1400" dirty="0">
                <a:solidFill>
                  <a:srgbClr val="222222"/>
                </a:solidFill>
                <a:latin typeface="Calibri"/>
              </a:rPr>
              <a:t>~ 12000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Гц дней.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lang="en-US" sz="1400" dirty="0">
                <a:solidFill>
                  <a:srgbClr val="222222"/>
                </a:solidFill>
                <a:latin typeface="Calibri"/>
              </a:rPr>
              <a:t>•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 При нормальном износе, снижения наработки на отказ по накполенным частотам нет, что приводит к снижению ННО в днях.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5B3E6-A97C-2ED9-1C3C-220A8400B528}"/>
              </a:ext>
            </a:extLst>
          </p:cNvPr>
          <p:cNvSpPr txBox="1"/>
          <p:nvPr/>
        </p:nvSpPr>
        <p:spPr>
          <a:xfrm flipH="1">
            <a:off x="6137231" y="5087240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Накопленная частота Гц дни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28057-5FC8-F91C-82E1-5C82A982280E}"/>
              </a:ext>
            </a:extLst>
          </p:cNvPr>
          <p:cNvSpPr txBox="1"/>
          <p:nvPr/>
        </p:nvSpPr>
        <p:spPr>
          <a:xfrm rot="16200000" flipH="1">
            <a:off x="4005623" y="3057157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Выживаемость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61FBF-38CD-5B95-D483-308957593314}"/>
              </a:ext>
            </a:extLst>
          </p:cNvPr>
          <p:cNvSpPr txBox="1"/>
          <p:nvPr/>
        </p:nvSpPr>
        <p:spPr>
          <a:xfrm flipH="1">
            <a:off x="5947309" y="1360846"/>
            <a:ext cx="450391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Кривые выживаемости для накопленной частоты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6F0624-3C64-D01A-E235-694320D6E4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4" t="14127" r="32195" b="9769"/>
          <a:stretch/>
        </p:blipFill>
        <p:spPr>
          <a:xfrm>
            <a:off x="5811362" y="1637845"/>
            <a:ext cx="3857625" cy="33344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25A889-9051-42C5-F4B0-BD71AFA386C6}"/>
              </a:ext>
            </a:extLst>
          </p:cNvPr>
          <p:cNvSpPr txBox="1"/>
          <p:nvPr/>
        </p:nvSpPr>
        <p:spPr>
          <a:xfrm>
            <a:off x="9728735" y="2123820"/>
            <a:ext cx="24336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&gt;50% </a:t>
            </a:r>
            <a:r>
              <a:rPr lang="ru-RU" sz="1100" dirty="0"/>
              <a:t>врмени на пониженых частотах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B07DA3-BFB6-196E-E557-DA09088478EF}"/>
              </a:ext>
            </a:extLst>
          </p:cNvPr>
          <p:cNvSpPr txBox="1"/>
          <p:nvPr/>
        </p:nvSpPr>
        <p:spPr>
          <a:xfrm>
            <a:off x="9740858" y="2309230"/>
            <a:ext cx="5229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базис</a:t>
            </a: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F5DB73-9F2B-603B-FD74-BF0EAF66321D}"/>
              </a:ext>
            </a:extLst>
          </p:cNvPr>
          <p:cNvSpPr txBox="1"/>
          <p:nvPr/>
        </p:nvSpPr>
        <p:spPr>
          <a:xfrm>
            <a:off x="9738260" y="2479770"/>
            <a:ext cx="24481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&gt;50% </a:t>
            </a:r>
            <a:r>
              <a:rPr lang="ru-RU" sz="1100" dirty="0"/>
              <a:t>врмени на повышеных частотах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17990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категории отказов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Как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читать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облако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точек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X: ННО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наработка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Y: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накопленная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суммарная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нагрузка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Гц·дней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Диагональные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накопл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=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× ННО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средняя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работал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преимущественно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&gt;60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Цвет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категория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«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Прочее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»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видно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Большинство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точек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сосредоточены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полосе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40–60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Гц-линий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КЛ и ПЭД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равномерно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распределены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частотным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зонам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Засорение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РО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тяготеет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к 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Гц-линии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согласуется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гидравлической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гипотезой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встречаются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любой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единственный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фактор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</p:txBody>
      </p:sp>
      <p:pic>
        <p:nvPicPr>
          <p:cNvPr id="5" name="Picture 4" descr="trf_vs_ttf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996" y="817200"/>
            <a:ext cx="5488352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категории отказов (крупный план)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rf_vs_ttf_by_category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329" y="817200"/>
            <a:ext cx="5749686" cy="564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862FDC-7749-7ADF-469B-105E419CD3AA}"/>
              </a:ext>
            </a:extLst>
          </p:cNvPr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Как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читать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облако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точек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X: ННО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наработка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Y: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накопленная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суммарная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нагрузка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Гц·дней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Диагональные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накопл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=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× ННО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средняя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работал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преимущественно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&gt;60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Цвет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категория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«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Прочее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»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видно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Большинство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точек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сосредоточены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полосе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40–60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Гц-линий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КЛ и ПЭД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равномерно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распределены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частотным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зонам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Засорение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РО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тяготеет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к 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Гц-линии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согласуется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гидравлической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гипотезой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встречаются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любой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единственный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фактор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H₂S (Кислый / Некислый)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Интерпретация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Кислые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красный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разброс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плоскости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H₂S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атакует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электромеханику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независимо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частоты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Некислые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зелёный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жизнь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среднем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длиннее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кластер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сдвинут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вправо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группы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присутствуют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всём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диапазоне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H₂S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действуют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независимо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Бинарный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порог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(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Кислый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≥ 3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мг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/л)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огрубляет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картину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Следующий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слайд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показывает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4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бина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прокси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H₂S.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pic>
        <p:nvPicPr>
          <p:cNvPr id="5" name="Picture 4" descr="trf_vs_ttf_by_h2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656" y="817200"/>
            <a:ext cx="5649031" cy="56447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H₂S (Кислый / Некислый) — крупный план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rf_vs_ttf_by_h2s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329" y="817200"/>
            <a:ext cx="5749686" cy="564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736B03-296D-7442-C5E3-5EF0406D25F8}"/>
              </a:ext>
            </a:extLst>
          </p:cNvPr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Интерпретация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Кислые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красный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разброс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плоскости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H₂S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атакует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электромеханику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независимо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частоты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Некислые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зелёный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жизнь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среднем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длиннее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кластер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сдвинут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вправо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группы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присутствуют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всём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диапазоне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H₂S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действуют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независимо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Бинарный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порог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(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Кислый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≥ 3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мг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/л)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огрубляет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картину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Следующий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слайд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показывает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4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бина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прокси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H₂S.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H₂S прокси (4 бина)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rf_vs_ttf_by_h2s_prox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941" y="817200"/>
            <a:ext cx="5564462" cy="564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2BBEA3-BB0C-B753-161A-A56C8F798BD1}"/>
              </a:ext>
            </a:extLst>
          </p:cNvPr>
          <p:cNvSpPr txBox="1"/>
          <p:nvPr/>
        </p:nvSpPr>
        <p:spPr>
          <a:xfrm>
            <a:off x="396000" y="817200"/>
            <a:ext cx="5121144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Бины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H₂S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прокси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мг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/л)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видно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&lt;1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/л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зелёный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выраженного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смещения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сторону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короткого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&gt;20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/л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красный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сконцентрированы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нижней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облака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ННО),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преимущественно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вдоль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50–60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1–20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/л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оранжевый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промежуточный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паттерн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Механизм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H₂S +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температура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необратимая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коррозия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изоляции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ПЭД и КЛ</a:t>
            </a: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Дробление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H₂S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4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бина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подтверждает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нарастает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дозозависимо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скачком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пороге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«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Кислый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/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Некислый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».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E50D6B0-6F32-330B-A8B5-803F84F26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137980"/>
              </p:ext>
            </p:extLst>
          </p:nvPr>
        </p:nvGraphicFramePr>
        <p:xfrm>
          <a:off x="396000" y="3311258"/>
          <a:ext cx="5121144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Бин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Описание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Цвет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&lt;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нет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данных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Нет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данных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телеметрии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Серый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&lt;1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мг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/л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Некислая среда — минимальный риск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Зелёный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1–20 мг/л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Умеренно кислая — повышенный риск КЛ/ПЭД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Оранжевый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&gt;20 мг/л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Высоко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кислая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—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максимальный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риск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изоляции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Красный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H₂S прокси (4 бина) — крупный план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rf_vs_ttf_by_h2s_proxy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899" y="817200"/>
            <a:ext cx="5754546" cy="564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4D0DF5-BE8D-3878-455C-57BC977044A6}"/>
              </a:ext>
            </a:extLst>
          </p:cNvPr>
          <p:cNvSpPr txBox="1"/>
          <p:nvPr/>
        </p:nvSpPr>
        <p:spPr>
          <a:xfrm>
            <a:off x="396000" y="817200"/>
            <a:ext cx="5121144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Бины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H₂S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прокси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мг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/л)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видно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&lt;1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/л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зелёный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выраженного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смещения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сторону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короткого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&gt;20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/л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красный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сконцентрированы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нижней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облака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ННО),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преимущественно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вдоль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50–60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1–20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/л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оранжевый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промежуточный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паттерн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Механизм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H₂S +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температура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необратимая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коррозия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изоляции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ПЭД и КЛ</a:t>
            </a: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Дробление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H₂S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4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бина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подтверждает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нарастает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дозозависимо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скачком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пороге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«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Кислый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/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Некислый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».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5526434-D77F-5965-07AC-64BC095ED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885174"/>
              </p:ext>
            </p:extLst>
          </p:nvPr>
        </p:nvGraphicFramePr>
        <p:xfrm>
          <a:off x="396000" y="3311258"/>
          <a:ext cx="5121144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Бин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Описание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Цвет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&lt;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нет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данных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Нет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данных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телеметрии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Серый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&lt;1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мг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/л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Некислая среда — минимальный риск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Зелёный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1–20 мг/л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Умеренно кислая — повышенный риск КЛ/ПЭД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Оранжевый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&gt;20 мг/л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Высоко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кислая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—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максимальный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риск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изоляции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Красный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прокси осадков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Интерпретация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осадкообразующая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нагрузка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тёмно-красный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накапливается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вдоль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низкочастотных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(40–50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Механизм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низкой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дебит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скорость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потока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меньше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осадки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оседают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засорение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осадки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уносятся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потоком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возрастает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абразивный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износ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РО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Spearman 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между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кальцием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хлоридами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P(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= +0.45–0.49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сильнейший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предиктор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Химия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пласта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и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частота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взаимосвязаны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режим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выбирается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соображений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дебита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дебит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определяет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химическую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нагрузку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Низкочастотные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скважины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чаще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страдают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осадков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;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высокочастотные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абразивного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износа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pic>
        <p:nvPicPr>
          <p:cNvPr id="5" name="Picture 4" descr="trf_vs_ttf_by_precipi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653" y="817200"/>
            <a:ext cx="5501037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прокси осадков — крупный план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rf_vs_ttf_by_precipitate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329" y="817200"/>
            <a:ext cx="5749686" cy="564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6CF22B-DABC-8F15-8730-1B9277ECC247}"/>
              </a:ext>
            </a:extLst>
          </p:cNvPr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Интерпретация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осадкообразующая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нагрузка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тёмно-красный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накапливается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вдоль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низкочастотных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(40–50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Механизм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низкой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дебит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скорость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потока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меньше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осадки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оседают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засорение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осадки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уносятся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потоком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возрастает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абразивный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износ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РО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Spearman 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между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кальцием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хлоридами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P(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= +0.45–0.49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сильнейший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предиктор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Химия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пласта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и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частота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взаимосвязаны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режим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выбирается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соображений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дебита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дебит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определяет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химическую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нагрузку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Низкочастотные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скважины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чаще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страдают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осадков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;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высокочастотные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абразивного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износа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газовый фактор (ГФ)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Бины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газового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фактора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(м³/м³)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показывает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облако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Зависимость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нелинейна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ГФ 300–700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хуже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&gt;700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300–700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концентрирует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прогоны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(35%),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которые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живут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из-за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H₂S, — а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из-за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газа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ГФ &gt;700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доминирован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полями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лучшей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выживаемостью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(Ya, Za)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Медианная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меняется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бинам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≈50–51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Прямой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связи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«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больше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ГФ →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короче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ННО» в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данных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Наблюдаемые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различия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конфаундированы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составом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полям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726029"/>
              </p:ext>
            </p:extLst>
          </p:nvPr>
        </p:nvGraphicFramePr>
        <p:xfrm>
          <a:off x="396000" y="3490829"/>
          <a:ext cx="5121140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Бин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Медиана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ННО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S(365)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Главные поля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≤100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179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Ya (72%)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100–300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1 001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235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0.550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Ya (65%)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300–700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169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Vt (35%), Ya (28%)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&gt;700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423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217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0.584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Ya, Za, Az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trf_vs_ttf_by_g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054" y="817200"/>
            <a:ext cx="5488235" cy="56447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газовый фактор — крупный план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rf_vs_ttf_by_glf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240" y="817200"/>
            <a:ext cx="5749863" cy="564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12CE71-A415-D74D-63F6-1058A769CAD9}"/>
              </a:ext>
            </a:extLst>
          </p:cNvPr>
          <p:cNvSpPr txBox="1"/>
          <p:nvPr/>
        </p:nvSpPr>
        <p:spPr>
          <a:xfrm>
            <a:off x="396000" y="817200"/>
            <a:ext cx="512114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Бины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газового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фактора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(м³/м³)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показывает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облако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Зависимость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нелинейна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ГФ 300–700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хуже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&gt;700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300–700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концентрирует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прогоны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(35%),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которые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живут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из-за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H₂S, — а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из-за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газа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ГФ &gt;700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доминирован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полями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лучшей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выживаемостью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(Ya, Za)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Медианная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меняется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бинам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≈50–51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Прямой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связи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«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больше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ГФ →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короче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ННО» в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данных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Наблюдаемые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различия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конфаундированы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составом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полям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448D52-E6DB-C2A3-D1AD-C56CC02B4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002615"/>
              </p:ext>
            </p:extLst>
          </p:nvPr>
        </p:nvGraphicFramePr>
        <p:xfrm>
          <a:off x="396000" y="3490829"/>
          <a:ext cx="5121140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Бин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Медиана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ННО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S(365)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Главные поля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≤100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179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Ya (72%)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100–300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1 001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235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0.550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Ya (65%)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300–700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169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Vt (35%), Ya (28%)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&gt;700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423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217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0.584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Ya, Za, Az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Газовый фактор: выживаемость и конфаундинг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487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KM-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анализ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ГФ-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бинам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Почему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ГФ 300–700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выглядит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хуже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всего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?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этом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244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прогона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(35%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H₂S×10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нормы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Уберите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разрыв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между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бинами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исчезает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бинам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одинакова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(~50–51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медиатор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Вывод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ГФ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сам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себе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является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независимым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предиктором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наличии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конфаундера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Низкая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выживаемость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зоне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300–700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это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Vt-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эффект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(H₂S), а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газовый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эффект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Для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управленческих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решений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учитывать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H₂S,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одиночку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984473"/>
              </p:ext>
            </p:extLst>
          </p:nvPr>
        </p:nvGraphicFramePr>
        <p:xfrm>
          <a:off x="6096600" y="5247271"/>
          <a:ext cx="51211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ГФ-бин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S(90)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S(180)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S(365)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Медиана ННО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100–300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&gt;700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0.805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0.584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217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≤100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179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300–700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0.772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0.637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0.461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169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glf_vs_nno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195099"/>
            <a:ext cx="6100056" cy="288900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Высокочастотные прогоны: &gt;50% рабочего времени выше 55 Гц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604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Описание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группы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Структура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отказов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при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ВЧ-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режиме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в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Слом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вала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+9 pp (23.8% vs 14.6%)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повышенный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пусковой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момент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Засорение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РО: +8 pp (21.4% vs 13.3%)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дебит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вынос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механических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примесей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ПЭД и КЛ: −5–6 pp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отбор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лучшей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изоляцией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i="1" dirty="0">
              <a:solidFill>
                <a:srgbClr val="B36A00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Вывод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Стабильная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работа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&gt;55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большую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часть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срока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нейтральна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среднему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и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медианному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ННО.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смещается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к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механическим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категориям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(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вал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РО),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к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сокращению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общего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ресурса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970500"/>
              </p:ext>
            </p:extLst>
          </p:nvPr>
        </p:nvGraphicFramePr>
        <p:xfrm>
          <a:off x="396000" y="2989831"/>
          <a:ext cx="5121144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ВЧ-прогоны (&gt;55 Гц &gt;50% вр.)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Базис (50–55 Гц)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 (Global)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 (Vt)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Событий (Global)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266 (65.2%)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495 (63.9%)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ННО (Global)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~160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~152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RMST(365 дн.) 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222.5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222.0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Cox HR (Global)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1.11 [≈0.9–1.4]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ННО (Vt)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~171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RMST(365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.) Vt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174.4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167.1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Picture 5" descr="hf_runs_km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301099"/>
            <a:ext cx="6100056" cy="267700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1A2744"/>
                </a:solidFill>
                <a:latin typeface="Calibri"/>
              </a:rPr>
              <a:t>Vt vs </a:t>
            </a:r>
            <a:r>
              <a:rPr lang="ru-RU" sz="2200" b="1" dirty="0">
                <a:solidFill>
                  <a:srgbClr val="1A2744"/>
                </a:solidFill>
                <a:latin typeface="Calibri"/>
              </a:rPr>
              <a:t>фонд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: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выживаемость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Разрыв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статистически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надёжен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логранк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p &lt; 0.001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Средняя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глобальной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причина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отставания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Vt!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Главные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факторы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H₂S-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структура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(КЛ + ПЭД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переизбыток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>
                <a:solidFill>
                  <a:srgbClr val="B36A00"/>
                </a:solidFill>
                <a:latin typeface="Calibri"/>
              </a:rPr>
              <a:t>Vt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отстаёт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глобального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фонда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потому</a:t>
            </a:r>
            <a:r>
              <a:rPr lang="ru-RU" sz="1400" i="1" dirty="0">
                <a:solidFill>
                  <a:srgbClr val="B36A00"/>
                </a:solidFill>
                <a:latin typeface="Calibri"/>
              </a:rPr>
              <a:t>,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что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кислая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среда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подтачивает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изоляцию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ещё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любого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вопроса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о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частоте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080437"/>
              </p:ext>
            </p:extLst>
          </p:nvPr>
        </p:nvGraphicFramePr>
        <p:xfrm>
          <a:off x="396000" y="2603280"/>
          <a:ext cx="11401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Метрика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Прогонов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отказов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+9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Медиана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lang="ru-RU"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ННО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~200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−50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Средняя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рабочая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частота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45.4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Гц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49.9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Гц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ранних отказов (90 дн.)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+10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1A2744"/>
                </a:solidFill>
                <a:latin typeface="Calibri"/>
              </a:rPr>
              <a:t>V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t: H₂S </a:t>
            </a:r>
            <a:r>
              <a:rPr lang="ru-RU" sz="2200" b="1" dirty="0">
                <a:solidFill>
                  <a:srgbClr val="1A2744"/>
                </a:solidFill>
                <a:latin typeface="Calibri"/>
              </a:rPr>
              <a:t>и химеическая нагрузка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Механизм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влияния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H₂S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H₂S +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температура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коррозия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изоляции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обмоток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ПЭД → β = 1.12 (wear-out,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нарастающий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риск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H₂S +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температура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коррозия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изоляции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КЛ → η = 91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кабеля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Spearman 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между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H₂S и P(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ρ = +0.20, p &lt; 0.001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b="1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00986"/>
              </p:ext>
            </p:extLst>
          </p:nvPr>
        </p:nvGraphicFramePr>
        <p:xfrm>
          <a:off x="519825" y="2918190"/>
          <a:ext cx="512114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Медиана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H₂S (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мг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/л)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×10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кислых скважин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+20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Медиана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GLF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+12%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437315"/>
              </p:ext>
            </p:extLst>
          </p:nvPr>
        </p:nvGraphicFramePr>
        <p:xfrm>
          <a:off x="6424613" y="2918190"/>
          <a:ext cx="512114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Фактор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Кальций (кг/день)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1e-16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Хлориды (кг/день)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+0.476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1e-15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Гипс-прокси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1e-12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H₂S (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мг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/л)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+0.204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Средняя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частота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D781BF9-7F76-048F-6AED-E07274C0636A}"/>
              </a:ext>
            </a:extLst>
          </p:cNvPr>
          <p:cNvSpPr txBox="1"/>
          <p:nvPr/>
        </p:nvSpPr>
        <p:spPr>
          <a:xfrm>
            <a:off x="6424613" y="817200"/>
            <a:ext cx="6143624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ru-RU" sz="1600" b="1" dirty="0">
                <a:solidFill>
                  <a:srgbClr val="1F5C99"/>
                </a:solidFill>
                <a:latin typeface="Calibri"/>
              </a:rPr>
              <a:t>Химическая нагрузка (Spearman ρ с P(ранний отказ))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lang="ru-RU" sz="1400" i="1" dirty="0">
                <a:solidFill>
                  <a:srgbClr val="B36A00"/>
                </a:solidFill>
                <a:latin typeface="Calibri"/>
              </a:rPr>
              <a:t>Химия пласта — доминирующий предиктор ранних отказов. Частота входит в топ-5, но уступает химии в 3–4 раза.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Два определения высокой частоты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Ответ на вопрос «опасна ли высокая частота» зависит от того, какой вопрос задаётся.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>
              <a:solidFill>
                <a:srgbClr val="B36A00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>
              <a:solidFill>
                <a:srgbClr val="B36A00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Физическое объяснение расхождения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Near-60 Гц (mean &gt;58) → скважины на пределе VFD: высокий дебит, частые пуски/остановки, ударные нагрузки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&gt;55 Гц большую часть → скважины со стабильной работой без cycling: меньше переходных процессов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Cycling 30↔65 Гц опаснее, чем стабильные 60 Гц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163600"/>
          <a:ext cx="114012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(mean &gt;58 Гц)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Широкий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(&gt;55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Гц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, &gt;50%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вр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.)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Прогонов (Vt)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TTF_true HF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117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171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TTF_true базис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Разрыв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−34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+20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Cox HR (Vt, TTF_true)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1.34 [0.71–2.51]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0.36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~0.88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Ранние отказы 90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57% vs 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27% vs 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Главный риск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РО, ПЭД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Слом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вала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Засорение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Near-60 Гц: KM и ранние отказы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rue60_km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11" y="817200"/>
            <a:ext cx="4467177" cy="3048192"/>
          </a:xfrm>
          <a:prstGeom prst="rect">
            <a:avLst/>
          </a:prstGeom>
        </p:spPr>
      </p:pic>
      <p:pic>
        <p:nvPicPr>
          <p:cNvPr id="5" name="Picture 4" descr="true60_threshold_early_share_ttf_tr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661" y="817200"/>
            <a:ext cx="5158478" cy="3048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6000" y="3955392"/>
            <a:ext cx="11401200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Доля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ранних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отказов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всех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отказов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)</a:t>
            </a:r>
            <a:endParaRPr lang="ru-RU"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near-60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Vt 57%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отказывают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3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месяцев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Это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«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чуть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раньше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»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меняется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профиль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категорий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Главный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практический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near-60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в Vt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сокращение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среднего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ресурса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30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дней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то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что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каждый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второй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насос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доживает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3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месяцев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692443"/>
              </p:ext>
            </p:extLst>
          </p:nvPr>
        </p:nvGraphicFramePr>
        <p:xfrm>
          <a:off x="396000" y="4365042"/>
          <a:ext cx="11401194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Горизонт</a:t>
                      </a:r>
                      <a:endParaRPr sz="11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Базис 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Базис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Фонд</a:t>
                      </a:r>
                      <a:endParaRPr sz="11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Near-60 </a:t>
                      </a: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Фонд</a:t>
                      </a:r>
                      <a:endParaRPr sz="11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30 дней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+4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+7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60 дней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29%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+6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+6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90 дней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+23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+10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B514260-9DCF-9B4E-BE06-0F1B61EC5488}"/>
              </a:ext>
            </a:extLst>
          </p:cNvPr>
          <p:cNvSpPr txBox="1"/>
          <p:nvPr/>
        </p:nvSpPr>
        <p:spPr>
          <a:xfrm flipH="1">
            <a:off x="1597224" y="3703760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ННО, дни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28692-E3B0-9E68-7811-73F83AD37F02}"/>
              </a:ext>
            </a:extLst>
          </p:cNvPr>
          <p:cNvSpPr txBox="1"/>
          <p:nvPr/>
        </p:nvSpPr>
        <p:spPr>
          <a:xfrm rot="16200000" flipH="1">
            <a:off x="-368572" y="2226740"/>
            <a:ext cx="259391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Выживаемость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D3829-4811-AF05-672B-3D7B1B35138C}"/>
              </a:ext>
            </a:extLst>
          </p:cNvPr>
          <p:cNvSpPr txBox="1"/>
          <p:nvPr/>
        </p:nvSpPr>
        <p:spPr>
          <a:xfrm rot="16200000" flipH="1">
            <a:off x="5207804" y="2135653"/>
            <a:ext cx="259391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Доля ранних отказов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FB7EDC-1F46-BB40-9B93-349ECF084773}"/>
              </a:ext>
            </a:extLst>
          </p:cNvPr>
          <p:cNvSpPr txBox="1"/>
          <p:nvPr/>
        </p:nvSpPr>
        <p:spPr>
          <a:xfrm flipH="1">
            <a:off x="7540824" y="3648060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Горизонт наработки, дни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Стабильность режима: cycling vs стабильная работа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Гипотеза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: near-60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Гц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≠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стабильная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60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Гц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mean &gt;58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могут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работать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режиме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cycling (30↔65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ВЧ-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преобразователь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разгоняется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максимума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перегружается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останавливается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Каждый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пуск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ударная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нагрузка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вал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ПЭД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отказы</a:t>
            </a: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Эмпирическая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проверка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телеметрии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стабильно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работающие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широк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ом смысле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нейтральный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HR=0.96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cycling (near-60)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HR=1.34 и 57%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Рекомендация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Медленный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разгон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VFD (≥30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сек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60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).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Минимизировать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число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пусков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/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остановок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Стабильный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режим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при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60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нейтрален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данным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794052"/>
              </p:ext>
            </p:extLst>
          </p:nvPr>
        </p:nvGraphicFramePr>
        <p:xfrm>
          <a:off x="396000" y="2896277"/>
          <a:ext cx="512114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Метрика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(n≈24)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Базис 50–55 Гц (n≈92)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дней &lt;45 Гц от валидных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Выше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Ниже (стабильный режим)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Пропуски телеметрии (остановки)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Больше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Меньше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 descr="cycling_near60_v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101771"/>
            <a:ext cx="6100056" cy="307565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Что убивает в Vt: выживаемость по категориям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290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Weibull-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параметры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категориям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в Vt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ПЭД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единственный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компонент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β &gt; 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всём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датасете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(и в Vt, и в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фонде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КЛ с η=91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половина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кабельных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3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месяцев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прочие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категории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β &lt; 1,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значит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риск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снижается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временем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Насос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переживший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первые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90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дней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в Vt,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значительно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снижает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отказа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КЛ и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вала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ПЭД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продолжает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нарастать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накопленная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деградация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изоляции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в H₂S-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среде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068692"/>
              </p:ext>
            </p:extLst>
          </p:nvPr>
        </p:nvGraphicFramePr>
        <p:xfrm>
          <a:off x="324078" y="3429000"/>
          <a:ext cx="5448070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9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44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451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η (дн.)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Паттерн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Вывод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9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(R-0)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Wear-out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Риск нарастает — деградация изоляции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2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 (R-0)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Сильная «детская смертность»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Большинство отказов до 3 мес.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67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«Детская смертность»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Дефекты монтажа, пусковые нагрузки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9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«Детская смертность»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Приходит рано при высоком дебите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89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«Детская смертность»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km_failure_categories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809583"/>
            <a:ext cx="6100056" cy="36600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AB2BB2-2A93-B619-31DE-768AA435D196}"/>
              </a:ext>
            </a:extLst>
          </p:cNvPr>
          <p:cNvSpPr txBox="1"/>
          <p:nvPr/>
        </p:nvSpPr>
        <p:spPr>
          <a:xfrm flipH="1">
            <a:off x="7340799" y="5201451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ННО, дни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Иерархия рисков при работе на 60 Гц в Vt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Уровень 1 — Высокий риск (действовать до перевода на 60 Гц)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Засорение рабочих органов (РО) — +22 pp переизбыток при near-60 Гц (35% vs 13%)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Проверить КВЧ и мехпримеси перед пуском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Газосепаратор или входной фильтр обязательны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Промывки в первые 90 дней по регламенту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ПЭД (электродвигатель) — β=1.12 wear-out; +9 pp при near-60 Гц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ПЭД с явным допуском для 60 Гц и H₂S-среды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Контроль сопротивления изоляции при каждом подъёме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Уровень 2 — Повышенный мониторинг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КЛ (кабель) — #1 причина в Vt (25%), η=91 дн.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Класс изоляции для максимального тока на 60 Гц при температуре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Слом вала — +9 pp при широкой HF-дефиниции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Медленный разгон VFD (не менее 30 сек от 0 до 60 Гц)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Избегать прямого пуска на высокой частоте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Уровень 3 — Стандартный контроль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НКТ, Гидрозащита, Износ РО — явной частотной чувствительности в данных нет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А. Near-60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Гц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(mean &gt;58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Гц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) в Vt: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осторожный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неблагоприятный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сигнал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1. TTF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сокращается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~30–35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best_available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TTF_true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2. Cox HR = 1.34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значим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из-за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малой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выборки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(n=24),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стабильно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&gt; 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осям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3. 57% vs 34%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90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наиболее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практически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значимый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сигнал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4. H₂S в near-60 Vt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остальном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конфаундинг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исключён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5. Near-60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повышает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риск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категориям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равномерно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(HR 1.06–1.36)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Б.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Широкая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дефиниция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(&gt;55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Гц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, &gt;50%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вр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.) —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нейтральный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результат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1. HR = 0.96,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TTF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+20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длиннее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базиса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2.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меньше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(27% vs 34%)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3. Cycling (near-60)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источник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риска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;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стабильная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нейтральна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В.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Независимо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определения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частоты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1. H₂S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сильнее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стабильнее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(Spearman ρ: H₂S &gt;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freq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везде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2.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Фиксированного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TRF-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бюджета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существует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(4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независимых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теста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KW p=0.0001)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3. ПЭД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единственный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wear-out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компонент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(β=1.12)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риск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нарастает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временем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4. КЛ — #1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причина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Vt (CIF@90дн. = 10%)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Рекомендации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1. Проверить рейтинги оборудования до перевода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ПЭД: явный допуск для 60 Гц и концентрации H₂S в Vt; тепловая характеристика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КЛ: класс изоляции для максимального непрерывного тока на 60 Гц при рабочей температуре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2. Организовать пилотный эксперимент (n слишком мал)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5–10 скважин на 60 Гц vs контрольная группа на 50–55 Гц с сопоставимой средой (низкий H₂S)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Инструментирование: ток ПЭД, температура ПЭД, сопротивление изоляции, перепад давления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Отслеживать отказы на горизонте 30/60/90 дней с фиксацией категории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3. Отбор скважин для пилота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Приоритет: H₂S &lt; 0.1 мг/л, хорошее состояние обсадной колонны, ПЭД с допуском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Низкий КВЧ и отсутствие истории засорений РО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Не начинать с самых агрессивных скважин по среде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4. Стабильный режим — не cycling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Медленный разгон VFD обязателен (≥ 30 сек от 0 до 60 Гц)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Минимизировать число пусков/остановок при высокой частоте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Стабильная работа при 60 Гц нейтральна; cycling опасен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5. Мониторинг в первые 90 дней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57% near-60 рисков — в первые 90 дней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Контроль: ток ПЭД, температура, R-изоляции, перепад давления на НКТ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Засорение РО: мониторить перепад давления с первой недели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8BB9B-90BD-C772-68A3-A13158CA4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Supplementary slides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D4101-774D-3575-4DA3-3A99DD05D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4484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25999"/>
            <a:ext cx="114732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Слайд 2 — Латентная Weibull-модель: смесь скрытых классов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02000"/>
            <a:ext cx="12193200" cy="288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64000"/>
            <a:ext cx="43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5C99"/>
                </a:solidFill>
                <a:latin typeface="Calibri"/>
              </a:rPr>
              <a:t>Идея модели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Одна наблюдаемая популяция может состоять из нескольких скрытых подгрупп с разной надёжностью.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Смесь выживаемости: S(t) = π·S1(t) + (1-π)·S2(t).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π — доля short-life класса; у каждого класса свои β_k и η_k.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Модель удобна, когда часть фонда умирает рано, а другая часть имеет нормальный ресурс.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3816000"/>
            <a:ext cx="4320000" cy="24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5C99"/>
                </a:solidFill>
                <a:latin typeface="Calibri"/>
              </a:rPr>
              <a:t>Как читать параметры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π = 0.35: доля скрытого класса ранних отказов.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Класс 1: β1 = 0.85, η1 = 120 д.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Класс 2: β2 = 1.90, η2 = 420 д.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B50 смеси = 251 д, E[T] смеси = 288 д.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P(ранний класс | отказ на 90 дн.) = 0.63.</a:t>
            </a:r>
          </a:p>
        </p:txBody>
      </p:sp>
      <p:pic>
        <p:nvPicPr>
          <p:cNvPr id="6" name="Picture 5" descr="weibull_latent_curve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0" y="900000"/>
            <a:ext cx="6552000" cy="482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40000" y="5832000"/>
            <a:ext cx="655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B36A00"/>
                </a:solidFill>
                <a:latin typeface="Calibri"/>
              </a:rPr>
              <a:t>Иллюстративный пример: смесь short-life и normal-life классов. Общая кривая может быть изогнутой сильнее, чем у одной Weibull-модели.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Глобальный фонд: латентная смесь Вейбулла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Два режима отказа (K=2 компоненты)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Смесевые квантили жизни (Global)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Vt: B50 = 145 дн. — самый низкий из всех полей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Ya: сильная бимодальность (B10=23 дн., B90=1 061 дн.) — два хорошо разделённых режима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Ya показывает типичный «двойной» жизненный цикл: отдельный ранний хвост и долгоживущая основная популяция. В Vt два режима менее разделены.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163600"/>
          <a:ext cx="512114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Компонент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Вес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η (дней)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Интерпретация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— ранний/случайный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0.870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Химические события, дефекты монтажа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— накопленный износ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0.554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519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1.151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Нормальная усталость и механический износ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6000" y="2973600"/>
          <a:ext cx="5121144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Квантиль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Ya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B10 (10% умрут к)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25.5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19.5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23.3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B25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83.8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57.3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83.6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B50 (медиана)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238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263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B90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950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488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1 061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m2_global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486771"/>
            <a:ext cx="6100056" cy="230565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Vt: латентный анализ и анализ частоты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Байесовская смесь Вейбулла (K=2) для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B10 = 19.5 дн., B50 = 145 дн., B90 = 488 дн.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Два компонента в Vt менее разделены, чем в Ya — Vt = «смешанная» популяция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Анализ частоты (Vt, n=238 с телеметрией)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Нет статистически значимого эффекта частоты (p &gt; 0.05 по всем тестам)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Точечные оценки: high-freq живут дольше — вероятно, эффект отбора (лучшие скважины)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Spearman ρ(freq, P_short) = +0.029, p=0.66 — нет связи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В широком определении (&gt;55 Гц большую часть) — Vt не показывает вреда высокой частоты.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833200"/>
          <a:ext cx="512114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Компонент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Вес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η (дней)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Интерпретация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— ранний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Примерно постоянный риск (химия, монтаж)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— износ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0.607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282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1.334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Нарастающий риск (накопленная деградация)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6000" y="3643200"/>
          <a:ext cx="512114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Группа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Медиана TTF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Логранк p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High-freq (mean &gt;55 Гц)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Low-freq (mean ≤55 Гц)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149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icture 6" descr="m2_v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486771"/>
            <a:ext cx="6100056" cy="230565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Weibull AFT: модель ускоренного отказа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3762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Принцип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AFT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 err="1">
                <a:solidFill>
                  <a:srgbClr val="222222"/>
                </a:solidFill>
                <a:latin typeface="Calibri"/>
              </a:rPr>
              <a:t>Время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группе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повышенной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T_HF = T_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базис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× exp(β × ln(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freq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β = −0.17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росте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20% (50→60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T_HF =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T_base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× 1.2^(−0.17) ≈ 0.97 ×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T_base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Сокращение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примерно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3%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«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чистой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»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нагрузки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Наблюдаемое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сокращение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(30–35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/ 150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≈ 20–23%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остальное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объясняется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другими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факторами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объясняет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разрыв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?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>
                <a:solidFill>
                  <a:srgbClr val="B36A00"/>
                </a:solidFill>
                <a:latin typeface="Calibri"/>
              </a:rPr>
              <a:t>AFT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подтверждает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частота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общий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ускоритель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деградации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специфический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триггер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одного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механизма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157000"/>
              </p:ext>
            </p:extLst>
          </p:nvPr>
        </p:nvGraphicFramePr>
        <p:xfrm>
          <a:off x="396000" y="4703054"/>
          <a:ext cx="11401200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Компонент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Вклад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Чистый частотный эффект (AFT)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~3–5%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Ускорение накопления TRF (60 Hz = быстрее по времени)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H₂S + GLF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среда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(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конфаундинг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исключён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в near-60 Vt (H₂S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ниже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Специфика near-60 скважин (cycling, пусковые нагрузки)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~10–15% (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гипотеза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Ранние отказы: структура по AJ CIF (Конкурирующие риски)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Кумулятивная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вероятность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отказа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причинам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(Vt) — 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К 90-му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дню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10%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отказывают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неисправности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кабеля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максимальная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ранняя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угроза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К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году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КЛ + ПЭД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вместе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~38%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накопленной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вероятности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ПЭД «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дотягивает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»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медленнее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(wear-out β=1.12)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продолжает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накапливаться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после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90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Near-60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Гц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: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причинно-специфический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HR (Global, n=130+ near-60)</a:t>
            </a:r>
            <a:endParaRPr lang="ru-RU"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i="1" dirty="0">
                <a:solidFill>
                  <a:srgbClr val="B36A00"/>
                </a:solidFill>
                <a:latin typeface="Calibri"/>
              </a:rPr>
              <a:t>Near-60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повышает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равномерно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всем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категориям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(HR 1.06–1.36)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это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общий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ускоритель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специфический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триггер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266383"/>
              </p:ext>
            </p:extLst>
          </p:nvPr>
        </p:nvGraphicFramePr>
        <p:xfrm>
          <a:off x="396000" y="5076106"/>
          <a:ext cx="512114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Причина отказа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CIF @ 90 дн.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CIF @ 180 дн.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CIF @ 365 дн.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 (кабель)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0.078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0.107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0.131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(двигатель)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0.118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0.172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875762"/>
              </p:ext>
            </p:extLst>
          </p:nvPr>
        </p:nvGraphicFramePr>
        <p:xfrm>
          <a:off x="396000" y="2539379"/>
          <a:ext cx="5121144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Причина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HR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[0.94–1.95]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1.29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[0.91–1.82]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0.156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[0.90–1.74]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1.06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[0.70–1.59]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0.783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aj_cif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826459"/>
            <a:ext cx="6100056" cy="36262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5713</Words>
  <Application>Microsoft Office PowerPoint</Application>
  <PresentationFormat>Custom</PresentationFormat>
  <Paragraphs>984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Supplementary slides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Artem Alexeev</dc:creator>
  <cp:keywords/>
  <dc:description>generated using python-pptx</dc:description>
  <cp:lastModifiedBy>Artem Alexeev</cp:lastModifiedBy>
  <cp:revision>3</cp:revision>
  <dcterms:created xsi:type="dcterms:W3CDTF">2013-01-27T09:14:16Z</dcterms:created>
  <dcterms:modified xsi:type="dcterms:W3CDTF">2026-06-24T03:39:22Z</dcterms:modified>
  <cp:category/>
</cp:coreProperties>
</file>