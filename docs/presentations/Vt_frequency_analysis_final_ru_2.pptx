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58" r:id="rId3"/>
    <p:sldId id="257" r:id="rId4"/>
    <p:sldId id="284" r:id="rId5"/>
    <p:sldId id="301" r:id="rId6"/>
    <p:sldId id="259" r:id="rId7"/>
    <p:sldId id="260" r:id="rId8"/>
    <p:sldId id="264" r:id="rId9"/>
    <p:sldId id="265" r:id="rId10"/>
    <p:sldId id="287" r:id="rId11"/>
    <p:sldId id="300" r:id="rId12"/>
    <p:sldId id="288" r:id="rId13"/>
    <p:sldId id="268" r:id="rId14"/>
    <p:sldId id="269" r:id="rId15"/>
    <p:sldId id="289" r:id="rId16"/>
    <p:sldId id="290" r:id="rId17"/>
    <p:sldId id="291" r:id="rId18"/>
    <p:sldId id="292" r:id="rId19"/>
    <p:sldId id="293" r:id="rId20"/>
    <p:sldId id="294" r:id="rId21"/>
    <p:sldId id="276" r:id="rId22"/>
    <p:sldId id="295" r:id="rId23"/>
    <p:sldId id="296" r:id="rId24"/>
    <p:sldId id="299" r:id="rId25"/>
    <p:sldId id="298" r:id="rId26"/>
    <p:sldId id="297" r:id="rId27"/>
    <p:sldId id="270" r:id="rId28"/>
    <p:sldId id="271" r:id="rId29"/>
    <p:sldId id="273" r:id="rId30"/>
    <p:sldId id="274" r:id="rId31"/>
    <p:sldId id="275" r:id="rId32"/>
    <p:sldId id="278" r:id="rId33"/>
    <p:sldId id="279" r:id="rId34"/>
    <p:sldId id="280" r:id="rId35"/>
    <p:sldId id="281" r:id="rId36"/>
    <p:sldId id="285" r:id="rId37"/>
    <p:sldId id="286" r:id="rId38"/>
    <p:sldId id="266" r:id="rId39"/>
    <p:sldId id="272" r:id="rId40"/>
    <p:sldId id="263" r:id="rId41"/>
    <p:sldId id="277" r:id="rId42"/>
  </p:sldIdLst>
  <p:sldSz cx="1219358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247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4CAEA3-9DF6-4DEC-96E0-B5DF31E4A2D5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BED249-7D37-474F-B951-2156FBA71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551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BED249-7D37-474F-B951-2156FBA71E4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267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32000" cy="6858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20000" y="1260000"/>
            <a:ext cx="111132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dirty="0" err="1">
                <a:solidFill>
                  <a:srgbClr val="1A2744"/>
                </a:solidFill>
                <a:latin typeface="Calibri"/>
              </a:rPr>
              <a:t>Статистический</a:t>
            </a:r>
            <a:r>
              <a:rPr sz="3000" b="1" dirty="0">
                <a:solidFill>
                  <a:srgbClr val="1A2744"/>
                </a:solidFill>
                <a:latin typeface="Calibri"/>
              </a:rPr>
              <a:t> </a:t>
            </a:r>
            <a:r>
              <a:rPr sz="3000" b="1" dirty="0" err="1">
                <a:solidFill>
                  <a:srgbClr val="1A2744"/>
                </a:solidFill>
                <a:latin typeface="Calibri"/>
              </a:rPr>
              <a:t>Анализ</a:t>
            </a:r>
            <a:r>
              <a:rPr sz="3000" b="1" dirty="0">
                <a:solidFill>
                  <a:srgbClr val="1A2744"/>
                </a:solidFill>
                <a:latin typeface="Calibri"/>
              </a:rPr>
              <a:t> </a:t>
            </a:r>
            <a:r>
              <a:rPr sz="3000" b="1" dirty="0" err="1">
                <a:solidFill>
                  <a:srgbClr val="1A2744"/>
                </a:solidFill>
                <a:latin typeface="Calibri"/>
              </a:rPr>
              <a:t>Отказов</a:t>
            </a:r>
            <a:r>
              <a:rPr sz="3000" b="1" dirty="0">
                <a:solidFill>
                  <a:srgbClr val="1A2744"/>
                </a:solidFill>
                <a:latin typeface="Calibri"/>
              </a:rPr>
              <a:t> ЭЦН.</a:t>
            </a:r>
            <a:endParaRPr lang="en-US" sz="3000" b="1" dirty="0">
              <a:solidFill>
                <a:srgbClr val="1A2744"/>
              </a:solidFill>
              <a:latin typeface="Calibri"/>
            </a:endParaRPr>
          </a:p>
          <a:p>
            <a:r>
              <a:rPr lang="ru-RU" sz="2400" b="1" dirty="0">
                <a:solidFill>
                  <a:srgbClr val="222222"/>
                </a:solidFill>
                <a:latin typeface="Calibri"/>
              </a:rPr>
              <a:t>Эксплуатация ЭЦН с повышенной частотой.</a:t>
            </a:r>
          </a:p>
          <a:p>
            <a:endParaRPr sz="3000" b="1" dirty="0">
              <a:solidFill>
                <a:srgbClr val="1A2744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20000" y="3600000"/>
            <a:ext cx="11113200" cy="2085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 dirty="0" err="1">
                <a:solidFill>
                  <a:srgbClr val="222222"/>
                </a:solidFill>
                <a:latin typeface="Calibri"/>
              </a:rPr>
              <a:t>Ключев</a:t>
            </a:r>
            <a:r>
              <a:rPr lang="ru-RU" sz="1400" dirty="0">
                <a:solidFill>
                  <a:srgbClr val="222222"/>
                </a:solidFill>
                <a:latin typeface="Calibri"/>
              </a:rPr>
              <a:t>ые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вопрос</a:t>
            </a:r>
            <a:r>
              <a:rPr lang="ru-RU" sz="1400" dirty="0">
                <a:solidFill>
                  <a:srgbClr val="222222"/>
                </a:solidFill>
                <a:latin typeface="Calibri"/>
              </a:rPr>
              <a:t>ы</a:t>
            </a:r>
            <a:r>
              <a:rPr sz="1400" dirty="0">
                <a:solidFill>
                  <a:srgbClr val="222222"/>
                </a:solidFill>
                <a:latin typeface="Calibri"/>
              </a:rPr>
              <a:t>: </a:t>
            </a:r>
            <a:endParaRPr lang="ru-RU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lang="ru-RU" sz="1400" dirty="0">
                <a:solidFill>
                  <a:srgbClr val="222222"/>
                </a:solidFill>
                <a:latin typeface="Calibri"/>
              </a:rPr>
              <a:t>	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Сокращает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ли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lang="ru-RU" sz="1400" dirty="0">
                <a:solidFill>
                  <a:srgbClr val="222222"/>
                </a:solidFill>
                <a:latin typeface="Calibri"/>
              </a:rPr>
              <a:t>эксплуатация ЭЦН с повышенной частотой ННО (глобально и для </a:t>
            </a:r>
            <a:r>
              <a:rPr sz="1400" dirty="0">
                <a:solidFill>
                  <a:srgbClr val="222222"/>
                </a:solidFill>
                <a:latin typeface="Calibri"/>
              </a:rPr>
              <a:t>Vt</a:t>
            </a:r>
            <a:r>
              <a:rPr lang="ru-RU" sz="1400" dirty="0">
                <a:solidFill>
                  <a:srgbClr val="222222"/>
                </a:solidFill>
                <a:latin typeface="Calibri"/>
              </a:rPr>
              <a:t>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lang="ru-RU" sz="1400" dirty="0">
                <a:solidFill>
                  <a:srgbClr val="222222"/>
                </a:solidFill>
                <a:latin typeface="Calibri"/>
              </a:rPr>
              <a:t>	Какие существуют риски для оборудования </a:t>
            </a:r>
            <a:r>
              <a:rPr sz="1400" dirty="0">
                <a:solidFill>
                  <a:srgbClr val="222222"/>
                </a:solidFill>
                <a:latin typeface="Calibri"/>
              </a:rPr>
              <a:t>?</a:t>
            </a:r>
            <a:endParaRPr lang="ru-RU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ru-RU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ru-RU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ru-RU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lang="ru-RU" sz="1400" dirty="0">
                <a:solidFill>
                  <a:srgbClr val="222222"/>
                </a:solidFill>
                <a:latin typeface="Calibri"/>
              </a:rPr>
              <a:t>Данные: 2634 записи данных эксплуатации,  1527 отказов, 2015–2025 гг.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dirty="0" err="1">
                <a:solidFill>
                  <a:srgbClr val="1A2744"/>
                </a:solidFill>
                <a:latin typeface="Calibri"/>
              </a:rPr>
              <a:t>Данные</a:t>
            </a:r>
            <a:r>
              <a:rPr sz="2200" b="1" dirty="0">
                <a:solidFill>
                  <a:srgbClr val="1A2744"/>
                </a:solidFill>
                <a:latin typeface="Calibri"/>
              </a:rPr>
              <a:t> и </a:t>
            </a:r>
            <a:r>
              <a:rPr sz="2200" b="1" dirty="0" err="1">
                <a:solidFill>
                  <a:srgbClr val="1A2744"/>
                </a:solidFill>
                <a:latin typeface="Calibri"/>
              </a:rPr>
              <a:t>Метод</a:t>
            </a:r>
            <a:endParaRPr sz="2200" b="1" dirty="0">
              <a:solidFill>
                <a:srgbClr val="1A2744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96000" y="3056400"/>
          <a:ext cx="11401200" cy="57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56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22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22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00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Параметр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Весь фонд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Vt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Источник данных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mart__vt_freq55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Период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2015–2025 гг.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Всего точек данных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2 634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410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Отказов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1 527 (58%)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268 (65%)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Цензурированных (ГТМ/работают)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1 107 (42%)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142 (35%)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BEC8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BEC8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BEC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Категория частот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Весь фонд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Vt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Базис: ср. 45–55 Гц, &gt;50% вр.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1 284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149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ВЧ: &gt;50% дней &gt;55 Гц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408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ВЧ-60: ср. частота &gt;58 Гц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180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Низкочастотные: ср. &lt;45 Гц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327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1A1A1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Выводы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-40651" y="3548563"/>
            <a:ext cx="11401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 dirty="0">
                <a:solidFill>
                  <a:srgbClr val="B36A00"/>
                </a:solidFill>
                <a:latin typeface="Calibri"/>
              </a:rPr>
              <a:t>Cycling (30↔65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Гц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)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опаснее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стабильной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работы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при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60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Гц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.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Устойчивый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режим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— </a:t>
            </a:r>
            <a:r>
              <a:rPr sz="1600" i="1" dirty="0" err="1">
                <a:solidFill>
                  <a:srgbClr val="B36A00"/>
                </a:solidFill>
                <a:latin typeface="Calibri"/>
              </a:rPr>
              <a:t>нейтрален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по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данным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30264794"/>
                  </p:ext>
                </p:extLst>
              </p:nvPr>
            </p:nvGraphicFramePr>
            <p:xfrm>
              <a:off x="396000" y="1177200"/>
              <a:ext cx="11401200" cy="2194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8004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8004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8004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2340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1" dirty="0" err="1">
                              <a:solidFill>
                                <a:srgbClr val="FFFFFF"/>
                              </a:solidFill>
                              <a:latin typeface="Calibri"/>
                            </a:rPr>
                            <a:t>Вопрос</a:t>
                          </a:r>
                          <a:endParaRPr sz="1200" b="1" dirty="0">
                            <a:solidFill>
                              <a:srgbClr val="FFFFFF"/>
                            </a:solidFill>
                            <a:latin typeface="Calibri"/>
                          </a:endParaRPr>
                        </a:p>
                      </a:txBody>
                      <a:tcPr>
                        <a:solidFill>
                          <a:srgbClr val="1A274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1">
                              <a:solidFill>
                                <a:srgbClr val="FFFFFF"/>
                              </a:solidFill>
                              <a:latin typeface="Calibri"/>
                            </a:rPr>
                            <a:t>Ответ</a:t>
                          </a:r>
                        </a:p>
                      </a:txBody>
                      <a:tcPr>
                        <a:solidFill>
                          <a:srgbClr val="1A274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1">
                              <a:solidFill>
                                <a:srgbClr val="FFFFFF"/>
                              </a:solidFill>
                              <a:latin typeface="Calibri"/>
                            </a:rPr>
                            <a:t>Уверенность</a:t>
                          </a:r>
                        </a:p>
                      </a:txBody>
                      <a:tcPr>
                        <a:solidFill>
                          <a:srgbClr val="1A274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340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Безопасна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</a:t>
                          </a:r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ли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</a:t>
                          </a:r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работа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&gt;50% </a:t>
                          </a:r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времени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&gt;55 </a:t>
                          </a:r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Гц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?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Нейтрально (HR=0.96, +20 дн. TTF)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Средняя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340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ru-RU"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Опасна ли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sz="1200" b="0" i="1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≈60 </m:t>
                              </m:r>
                              <m:r>
                                <m:rPr>
                                  <m:sty m:val="p"/>
                                </m:rPr>
                                <a:rPr lang="en-US" sz="1200" b="0" i="0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Hz</m:t>
                              </m:r>
                            </m:oMath>
                          </a14:m>
                          <a:r>
                            <a:rPr lang="ru-RU"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b="0" i="1" smtClean="0">
                                      <a:solidFill>
                                        <a:srgbClr val="22222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solidFill>
                                        <a:srgbClr val="222222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solidFill>
                                        <a:srgbClr val="222222"/>
                                      </a:solidFill>
                                      <a:latin typeface="Cambria Math" panose="02040503050406030204" pitchFamily="18" charset="0"/>
                                    </a:rPr>
                                    <m:t>𝑚𝑒𝑎𝑛</m:t>
                                  </m:r>
                                </m:sub>
                              </m:sSub>
                              <m:r>
                                <a:rPr lang="en-US" sz="1200" b="0" i="1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&gt;58 </m:t>
                              </m:r>
                              <m:r>
                                <m:rPr>
                                  <m:sty m:val="p"/>
                                </m:rPr>
                                <a:rPr lang="en-US" sz="1200" b="0" i="0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Hz</m:t>
                              </m:r>
                            </m:oMath>
                          </a14:m>
                          <a:r>
                            <a:rPr lang="ru-RU"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) для Vt?</a:t>
                          </a:r>
                          <a:endParaRPr sz="1200" b="0" dirty="0">
                            <a:solidFill>
                              <a:srgbClr val="222222"/>
                            </a:solidFill>
                            <a:latin typeface="Calibri"/>
                          </a:endParaRPr>
                        </a:p>
                      </a:txBody>
                      <a:tcPr>
                        <a:solidFill>
                          <a:srgbClr val="EEF2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Да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— </a:t>
                          </a:r>
                          <a:r>
                            <a:rPr lang="ru-RU"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неопределенный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</a:t>
                          </a:r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сигнал</a:t>
                          </a:r>
                          <a:endParaRPr sz="1200" b="0" dirty="0">
                            <a:solidFill>
                              <a:srgbClr val="222222"/>
                            </a:solidFill>
                            <a:latin typeface="Calibri"/>
                          </a:endParaRPr>
                        </a:p>
                      </a:txBody>
                      <a:tcPr>
                        <a:solidFill>
                          <a:srgbClr val="EEF2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ru-RU"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Низкая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(n=24)</a:t>
                          </a:r>
                        </a:p>
                      </a:txBody>
                      <a:tcPr>
                        <a:solidFill>
                          <a:srgbClr val="EEF2F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340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Насколько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</a:t>
                          </a:r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сокращается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Н</a:t>
                          </a:r>
                          <a:r>
                            <a:rPr lang="ru-RU"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Н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О </a:t>
                          </a:r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при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sz="1200" b="0" i="1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≈60 </m:t>
                              </m:r>
                              <m:r>
                                <m:rPr>
                                  <m:sty m:val="p"/>
                                </m:rPr>
                                <a:rPr lang="en-US" sz="1200" b="0" i="0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Hz</m:t>
                              </m:r>
                            </m:oMath>
                          </a14:m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?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~30 </a:t>
                          </a:r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дней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</a:t>
                          </a:r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по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</a:t>
                          </a:r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медиане</a:t>
                          </a:r>
                          <a:r>
                            <a:rPr lang="ru-RU"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, </a:t>
                          </a:r>
                          <a:r>
                            <a:rPr lang="en-US"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~25 </a:t>
                          </a:r>
                          <a:r>
                            <a:rPr lang="ru-RU"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дне по среднему</a:t>
                          </a:r>
                          <a:endParaRPr sz="1200" b="0" dirty="0">
                            <a:solidFill>
                              <a:srgbClr val="222222"/>
                            </a:solidFill>
                            <a:latin typeface="Calibri"/>
                          </a:endParaRP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Средняя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340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Ранние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</a:t>
                          </a:r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отказы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(90 </a:t>
                          </a:r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дн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.) </a:t>
                          </a:r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при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</a:t>
                          </a:r>
                          <a:r>
                            <a:rPr lang="ru-RU" sz="1200" b="0" dirty="0">
                              <a:solidFill>
                                <a:srgbClr val="222222"/>
                              </a:solidFill>
                              <a:latin typeface="+mn-lt"/>
                            </a:rPr>
                            <a:t>при </a:t>
                          </a:r>
                          <a14:m>
                            <m:oMath xmlns:m="http://schemas.openxmlformats.org/officeDocument/2006/math">
                              <m:r>
                                <a:rPr lang="ru-RU" sz="1200" b="0" i="1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ru-RU" sz="1200" b="0" i="1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≈60 </m:t>
                              </m:r>
                              <m:r>
                                <m:rPr>
                                  <m:sty m:val="p"/>
                                </m:rPr>
                                <a:rPr lang="en-US" sz="1200" b="0" i="0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Hz</m:t>
                              </m:r>
                            </m:oMath>
                          </a14:m>
                          <a:r>
                            <a:rPr lang="en-US"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</a:t>
                          </a:r>
                          <a:r>
                            <a:rPr lang="ru-RU"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для 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Vt?</a:t>
                          </a:r>
                        </a:p>
                      </a:txBody>
                      <a:tcPr>
                        <a:solidFill>
                          <a:srgbClr val="EEF2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57% vs 34% — сильнейший сигнал</a:t>
                          </a:r>
                        </a:p>
                      </a:txBody>
                      <a:tcPr>
                        <a:solidFill>
                          <a:srgbClr val="EEF2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Средняя</a:t>
                          </a:r>
                        </a:p>
                      </a:txBody>
                      <a:tcPr>
                        <a:solidFill>
                          <a:srgbClr val="EEF2F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340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Есть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</a:t>
                          </a:r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ли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</a:t>
                          </a:r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фиксированный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</a:t>
                          </a:r>
                          <a:r>
                            <a:rPr lang="ru-RU"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накопленный </a:t>
                          </a:r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Гц</a:t>
                          </a:r>
                          <a:r>
                            <a:rPr lang="ru-RU"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</a:t>
                          </a:r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ресурс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?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Нет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— 4 </a:t>
                          </a:r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теста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</a:t>
                          </a:r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отклонили</a:t>
                          </a:r>
                          <a:endParaRPr sz="1200" b="0" dirty="0">
                            <a:solidFill>
                              <a:srgbClr val="222222"/>
                            </a:solidFill>
                            <a:latin typeface="Calibri"/>
                          </a:endParaRP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ru-RU"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Средняя</a:t>
                          </a:r>
                          <a:endParaRPr sz="1200" b="0" dirty="0">
                            <a:solidFill>
                              <a:srgbClr val="222222"/>
                            </a:solidFill>
                            <a:latin typeface="Calibri"/>
                          </a:endParaRP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340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Что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</a:t>
                          </a:r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ломается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</a:t>
                          </a:r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первым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</a:t>
                          </a:r>
                          <a:r>
                            <a:rPr lang="ru-RU" sz="1200" b="0" dirty="0">
                              <a:solidFill>
                                <a:srgbClr val="222222"/>
                              </a:solidFill>
                              <a:latin typeface="+mn-lt"/>
                            </a:rPr>
                            <a:t>при </a:t>
                          </a:r>
                          <a14:m>
                            <m:oMath xmlns:m="http://schemas.openxmlformats.org/officeDocument/2006/math">
                              <m:r>
                                <a:rPr lang="ru-RU" sz="1200" b="0" i="1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ru-RU" sz="1200" b="0" i="1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≈60 </m:t>
                              </m:r>
                              <m:r>
                                <m:rPr>
                                  <m:sty m:val="p"/>
                                </m:rPr>
                                <a:rPr lang="en-US" sz="1200" b="0" i="0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Hz</m:t>
                              </m:r>
                            </m:oMath>
                          </a14:m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?</a:t>
                          </a:r>
                        </a:p>
                      </a:txBody>
                      <a:tcPr>
                        <a:solidFill>
                          <a:srgbClr val="EEF2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Засорение РО → ПЭД</a:t>
                          </a:r>
                        </a:p>
                      </a:txBody>
                      <a:tcPr>
                        <a:solidFill>
                          <a:srgbClr val="EEF2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Средняя</a:t>
                          </a:r>
                        </a:p>
                      </a:txBody>
                      <a:tcPr>
                        <a:solidFill>
                          <a:srgbClr val="EEF2F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2340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Главный фактор риска в Vt?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H₂S-среда &gt; частота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Высокая</a:t>
                          </a:r>
                          <a:endParaRPr sz="1200" b="0" dirty="0">
                            <a:solidFill>
                              <a:srgbClr val="222222"/>
                            </a:solidFill>
                            <a:latin typeface="Calibri"/>
                          </a:endParaRP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30264794"/>
                  </p:ext>
                </p:extLst>
              </p:nvPr>
            </p:nvGraphicFramePr>
            <p:xfrm>
              <a:off x="396000" y="1177200"/>
              <a:ext cx="11401200" cy="2194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8004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8004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8004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1" dirty="0" err="1">
                              <a:solidFill>
                                <a:srgbClr val="FFFFFF"/>
                              </a:solidFill>
                              <a:latin typeface="Calibri"/>
                            </a:rPr>
                            <a:t>Вопрос</a:t>
                          </a:r>
                          <a:endParaRPr sz="1200" b="1" dirty="0">
                            <a:solidFill>
                              <a:srgbClr val="FFFFFF"/>
                            </a:solidFill>
                            <a:latin typeface="Calibri"/>
                          </a:endParaRPr>
                        </a:p>
                      </a:txBody>
                      <a:tcPr>
                        <a:solidFill>
                          <a:srgbClr val="1A274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1">
                              <a:solidFill>
                                <a:srgbClr val="FFFFFF"/>
                              </a:solidFill>
                              <a:latin typeface="Calibri"/>
                            </a:rPr>
                            <a:t>Ответ</a:t>
                          </a:r>
                        </a:p>
                      </a:txBody>
                      <a:tcPr>
                        <a:solidFill>
                          <a:srgbClr val="1A274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1">
                              <a:solidFill>
                                <a:srgbClr val="FFFFFF"/>
                              </a:solidFill>
                              <a:latin typeface="Calibri"/>
                            </a:rPr>
                            <a:t>Уверенность</a:t>
                          </a:r>
                        </a:p>
                      </a:txBody>
                      <a:tcPr>
                        <a:solidFill>
                          <a:srgbClr val="1A274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Безопасна ли работа &gt;50% времени &gt;55 Гц?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Нейтрально (HR=0.96, +20 дн. TTF)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Средняя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0" t="-202222" r="-200641" b="-517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Да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— </a:t>
                          </a:r>
                          <a:r>
                            <a:rPr lang="ru-RU"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неопределенный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</a:t>
                          </a:r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сигнал</a:t>
                          </a:r>
                          <a:endParaRPr sz="1200" b="0" dirty="0">
                            <a:solidFill>
                              <a:srgbClr val="222222"/>
                            </a:solidFill>
                            <a:latin typeface="Calibri"/>
                          </a:endParaRPr>
                        </a:p>
                      </a:txBody>
                      <a:tcPr>
                        <a:solidFill>
                          <a:srgbClr val="EEF2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ru-RU"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Низкая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(n=24)</a:t>
                          </a:r>
                        </a:p>
                      </a:txBody>
                      <a:tcPr>
                        <a:solidFill>
                          <a:srgbClr val="EEF2F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0" t="-295652" r="-200641" b="-4065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~30 </a:t>
                          </a:r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дней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</a:t>
                          </a:r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по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</a:t>
                          </a:r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медиане</a:t>
                          </a:r>
                          <a:r>
                            <a:rPr lang="ru-RU"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, </a:t>
                          </a:r>
                          <a:r>
                            <a:rPr lang="en-US"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~25 </a:t>
                          </a:r>
                          <a:r>
                            <a:rPr lang="ru-RU"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дне по среднему</a:t>
                          </a:r>
                          <a:endParaRPr sz="1200" b="0" dirty="0">
                            <a:solidFill>
                              <a:srgbClr val="222222"/>
                            </a:solidFill>
                            <a:latin typeface="Calibri"/>
                          </a:endParaRP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Средняя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0" t="-404444" r="-200641" b="-31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57% vs 34% — сильнейший сигнал</a:t>
                          </a:r>
                        </a:p>
                      </a:txBody>
                      <a:tcPr>
                        <a:solidFill>
                          <a:srgbClr val="EEF2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Средняя</a:t>
                          </a:r>
                        </a:p>
                      </a:txBody>
                      <a:tcPr>
                        <a:solidFill>
                          <a:srgbClr val="EEF2F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Есть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</a:t>
                          </a:r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ли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</a:t>
                          </a:r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фиксированный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</a:t>
                          </a:r>
                          <a:r>
                            <a:rPr lang="ru-RU"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накопленный </a:t>
                          </a:r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Гц</a:t>
                          </a:r>
                          <a:r>
                            <a:rPr lang="ru-RU"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</a:t>
                          </a:r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ресурс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?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Нет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— 4 </a:t>
                          </a:r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теста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</a:t>
                          </a:r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отклонили</a:t>
                          </a:r>
                          <a:endParaRPr sz="1200" b="0" dirty="0">
                            <a:solidFill>
                              <a:srgbClr val="222222"/>
                            </a:solidFill>
                            <a:latin typeface="Calibri"/>
                          </a:endParaRP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ru-RU"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Средняя</a:t>
                          </a:r>
                          <a:endParaRPr sz="1200" b="0" dirty="0">
                            <a:solidFill>
                              <a:srgbClr val="222222"/>
                            </a:solidFill>
                            <a:latin typeface="Calibri"/>
                          </a:endParaRP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0" t="-604444" r="-200641" b="-11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Засорение РО → ПЭД</a:t>
                          </a:r>
                        </a:p>
                      </a:txBody>
                      <a:tcPr>
                        <a:solidFill>
                          <a:srgbClr val="EEF2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Средняя</a:t>
                          </a:r>
                        </a:p>
                      </a:txBody>
                      <a:tcPr>
                        <a:solidFill>
                          <a:srgbClr val="EEF2F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Главный фактор риска в Vt?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H₂S-среда &gt; частота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Высокая</a:t>
                          </a:r>
                          <a:endParaRPr sz="1200" b="0" dirty="0">
                            <a:solidFill>
                              <a:srgbClr val="222222"/>
                            </a:solidFill>
                            <a:latin typeface="Calibri"/>
                          </a:endParaRP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125999"/>
            <a:ext cx="8206285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2200" b="1" dirty="0">
                <a:solidFill>
                  <a:srgbClr val="1A2744"/>
                </a:solidFill>
                <a:latin typeface="Calibri"/>
              </a:rPr>
              <a:t>Данные и Метод</a:t>
            </a:r>
            <a:r>
              <a:rPr sz="2200" b="1" dirty="0">
                <a:solidFill>
                  <a:srgbClr val="1A2744"/>
                </a:solidFill>
                <a:latin typeface="Calibri"/>
              </a:rPr>
              <a:t> — </a:t>
            </a:r>
            <a:r>
              <a:rPr sz="2200" b="1" dirty="0" err="1">
                <a:solidFill>
                  <a:srgbClr val="1A2744"/>
                </a:solidFill>
                <a:latin typeface="Calibri"/>
              </a:rPr>
              <a:t>Классическая</a:t>
            </a:r>
            <a:r>
              <a:rPr sz="2200" b="1" dirty="0">
                <a:solidFill>
                  <a:srgbClr val="1A2744"/>
                </a:solidFill>
                <a:latin typeface="Calibri"/>
              </a:rPr>
              <a:t> Weibull-</a:t>
            </a:r>
            <a:r>
              <a:rPr sz="2200" b="1" dirty="0" err="1">
                <a:solidFill>
                  <a:srgbClr val="1A2744"/>
                </a:solidFill>
                <a:latin typeface="Calibri"/>
              </a:rPr>
              <a:t>модель</a:t>
            </a:r>
            <a:r>
              <a:rPr sz="2200" b="1" dirty="0">
                <a:solidFill>
                  <a:srgbClr val="1A2744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1A2744"/>
                </a:solidFill>
                <a:latin typeface="Calibri"/>
              </a:rPr>
              <a:t>выживаемости</a:t>
            </a:r>
            <a:endParaRPr sz="2200" b="1" dirty="0">
              <a:solidFill>
                <a:srgbClr val="1A2744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702000"/>
            <a:ext cx="12193200" cy="288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6000" y="864000"/>
            <a:ext cx="4320000" cy="3767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dirty="0" err="1">
                <a:solidFill>
                  <a:srgbClr val="1F5C99"/>
                </a:solidFill>
                <a:latin typeface="Calibri"/>
              </a:rPr>
              <a:t>Что</a:t>
            </a:r>
            <a:r>
              <a:rPr sz="18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800" b="1" dirty="0" err="1">
                <a:solidFill>
                  <a:srgbClr val="1F5C99"/>
                </a:solidFill>
                <a:latin typeface="Calibri"/>
              </a:rPr>
              <a:t>задаёт</a:t>
            </a:r>
            <a:r>
              <a:rPr sz="18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800" b="1" dirty="0" err="1">
                <a:solidFill>
                  <a:srgbClr val="1F5C99"/>
                </a:solidFill>
                <a:latin typeface="Calibri"/>
              </a:rPr>
              <a:t>модель</a:t>
            </a:r>
            <a:endParaRPr sz="1800" b="1" dirty="0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sz="15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Функция</a:t>
            </a:r>
            <a:r>
              <a:rPr sz="1500" dirty="0">
                <a:solidFill>
                  <a:srgbClr val="222222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выживания</a:t>
            </a:r>
            <a:r>
              <a:rPr sz="1500" dirty="0">
                <a:solidFill>
                  <a:srgbClr val="222222"/>
                </a:solidFill>
                <a:latin typeface="Calibri"/>
              </a:rPr>
              <a:t>: S(t) = exp(-(t/η)^β).</a:t>
            </a: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sz="1500" dirty="0">
                <a:solidFill>
                  <a:srgbClr val="222222"/>
                </a:solidFill>
                <a:latin typeface="Calibri"/>
              </a:rPr>
              <a:t>• β —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параметр</a:t>
            </a:r>
            <a:r>
              <a:rPr sz="1500" dirty="0">
                <a:solidFill>
                  <a:srgbClr val="222222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формы</a:t>
            </a:r>
            <a:r>
              <a:rPr sz="1500" dirty="0">
                <a:solidFill>
                  <a:srgbClr val="222222"/>
                </a:solidFill>
                <a:latin typeface="Calibri"/>
              </a:rPr>
              <a:t>: </a:t>
            </a:r>
            <a:endParaRPr lang="ru-RU" sz="15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lang="ru-RU" sz="1500" dirty="0">
                <a:solidFill>
                  <a:srgbClr val="222222"/>
                </a:solidFill>
                <a:latin typeface="Calibri"/>
              </a:rPr>
              <a:t>	</a:t>
            </a:r>
            <a:r>
              <a:rPr sz="1500" dirty="0">
                <a:solidFill>
                  <a:srgbClr val="222222"/>
                </a:solidFill>
                <a:latin typeface="Calibri"/>
              </a:rPr>
              <a:t>β &lt; 1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ранние</a:t>
            </a:r>
            <a:r>
              <a:rPr sz="1500" dirty="0">
                <a:solidFill>
                  <a:srgbClr val="222222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отказы</a:t>
            </a:r>
            <a:r>
              <a:rPr lang="ru-RU" sz="1500" dirty="0">
                <a:solidFill>
                  <a:srgbClr val="222222"/>
                </a:solidFill>
                <a:latin typeface="Calibri"/>
              </a:rPr>
              <a:t> (вероятность 	отказа уменьшается со временем)</a:t>
            </a: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lang="ru-RU" sz="1500" dirty="0">
                <a:solidFill>
                  <a:srgbClr val="222222"/>
                </a:solidFill>
                <a:latin typeface="Calibri"/>
              </a:rPr>
              <a:t>	</a:t>
            </a:r>
            <a:r>
              <a:rPr sz="1500" dirty="0">
                <a:solidFill>
                  <a:srgbClr val="222222"/>
                </a:solidFill>
                <a:latin typeface="Calibri"/>
              </a:rPr>
              <a:t>β ≈ 1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случайные</a:t>
            </a:r>
            <a:r>
              <a:rPr sz="1500" dirty="0">
                <a:solidFill>
                  <a:srgbClr val="222222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отказы</a:t>
            </a:r>
            <a:r>
              <a:rPr lang="ru-RU" sz="1500" dirty="0">
                <a:solidFill>
                  <a:srgbClr val="222222"/>
                </a:solidFill>
                <a:latin typeface="Calibri"/>
              </a:rPr>
              <a:t> (вероятность 	отказа постоянна все время эксплуатации)</a:t>
            </a: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lang="ru-RU" sz="1500" dirty="0">
                <a:solidFill>
                  <a:srgbClr val="222222"/>
                </a:solidFill>
                <a:latin typeface="Calibri"/>
              </a:rPr>
              <a:t>	</a:t>
            </a:r>
            <a:r>
              <a:rPr sz="1500" dirty="0">
                <a:solidFill>
                  <a:srgbClr val="222222"/>
                </a:solidFill>
                <a:latin typeface="Calibri"/>
              </a:rPr>
              <a:t>β &gt; 1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износ</a:t>
            </a:r>
            <a:r>
              <a:rPr sz="1500" dirty="0">
                <a:solidFill>
                  <a:srgbClr val="222222"/>
                </a:solidFill>
                <a:latin typeface="Calibri"/>
              </a:rPr>
              <a:t>.</a:t>
            </a:r>
            <a:r>
              <a:rPr lang="ru-RU" sz="1500" dirty="0">
                <a:solidFill>
                  <a:srgbClr val="222222"/>
                </a:solidFill>
                <a:latin typeface="Calibri"/>
              </a:rPr>
              <a:t> (вероятность отказа 	возрастает со временем)</a:t>
            </a:r>
            <a:endParaRPr sz="15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sz="1500" dirty="0">
                <a:solidFill>
                  <a:srgbClr val="222222"/>
                </a:solidFill>
                <a:latin typeface="Calibri"/>
              </a:rPr>
              <a:t>• η —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параметр</a:t>
            </a:r>
            <a:r>
              <a:rPr sz="1500" dirty="0">
                <a:solidFill>
                  <a:srgbClr val="222222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масштаба</a:t>
            </a:r>
            <a:r>
              <a:rPr sz="1500" dirty="0">
                <a:solidFill>
                  <a:srgbClr val="222222"/>
                </a:solidFill>
                <a:latin typeface="Calibri"/>
              </a:rPr>
              <a:t> (characteristic life):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при</a:t>
            </a:r>
            <a:r>
              <a:rPr sz="1500" dirty="0">
                <a:solidFill>
                  <a:srgbClr val="222222"/>
                </a:solidFill>
                <a:latin typeface="Calibri"/>
              </a:rPr>
              <a:t> t = η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имеем</a:t>
            </a:r>
            <a:r>
              <a:rPr sz="1500" dirty="0">
                <a:solidFill>
                  <a:srgbClr val="222222"/>
                </a:solidFill>
                <a:latin typeface="Calibri"/>
              </a:rPr>
              <a:t> S(t) = e^-1 ≈ 36.8%.</a:t>
            </a: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sz="15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Средняя</a:t>
            </a:r>
            <a:r>
              <a:rPr sz="1500" dirty="0">
                <a:solidFill>
                  <a:srgbClr val="222222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наработка</a:t>
            </a:r>
            <a:r>
              <a:rPr sz="1500" dirty="0">
                <a:solidFill>
                  <a:srgbClr val="222222"/>
                </a:solidFill>
                <a:latin typeface="Calibri"/>
              </a:rPr>
              <a:t> E[T] и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медиана</a:t>
            </a:r>
            <a:r>
              <a:rPr sz="1500" dirty="0">
                <a:solidFill>
                  <a:srgbClr val="222222"/>
                </a:solidFill>
                <a:latin typeface="Calibri"/>
              </a:rPr>
              <a:t> B50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обычно</a:t>
            </a:r>
            <a:r>
              <a:rPr sz="1500" dirty="0">
                <a:solidFill>
                  <a:srgbClr val="222222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не</a:t>
            </a:r>
            <a:r>
              <a:rPr sz="1500" dirty="0">
                <a:solidFill>
                  <a:srgbClr val="222222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совпадают</a:t>
            </a:r>
            <a:r>
              <a:rPr sz="1500" dirty="0">
                <a:solidFill>
                  <a:srgbClr val="222222"/>
                </a:solidFill>
                <a:latin typeface="Calibri"/>
              </a:rPr>
              <a:t>: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это</a:t>
            </a:r>
            <a:r>
              <a:rPr sz="1500" dirty="0">
                <a:solidFill>
                  <a:srgbClr val="222222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разные</a:t>
            </a:r>
            <a:r>
              <a:rPr sz="1500" dirty="0">
                <a:solidFill>
                  <a:srgbClr val="222222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характеристики</a:t>
            </a:r>
            <a:r>
              <a:rPr sz="1500" dirty="0">
                <a:solidFill>
                  <a:srgbClr val="222222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ресурса</a:t>
            </a:r>
            <a:r>
              <a:rPr sz="1500" dirty="0">
                <a:solidFill>
                  <a:srgbClr val="222222"/>
                </a:solidFill>
                <a:latin typeface="Calibr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37709" y="6156000"/>
            <a:ext cx="6552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 dirty="0" err="1">
                <a:solidFill>
                  <a:srgbClr val="B36A00"/>
                </a:solidFill>
                <a:latin typeface="Calibri"/>
              </a:rPr>
              <a:t>Иллюстративный</a:t>
            </a:r>
            <a:r>
              <a:rPr sz="13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300" i="1" dirty="0" err="1">
                <a:solidFill>
                  <a:srgbClr val="B36A00"/>
                </a:solidFill>
                <a:latin typeface="Calibri"/>
              </a:rPr>
              <a:t>пример</a:t>
            </a:r>
            <a:r>
              <a:rPr sz="1300" i="1" dirty="0">
                <a:solidFill>
                  <a:srgbClr val="B36A00"/>
                </a:solidFill>
                <a:latin typeface="Calibri"/>
              </a:rPr>
              <a:t>: β = 1.60, η = 420 д. </a:t>
            </a:r>
            <a:r>
              <a:rPr sz="1300" i="1" dirty="0" err="1">
                <a:solidFill>
                  <a:srgbClr val="B36A00"/>
                </a:solidFill>
                <a:latin typeface="Calibri"/>
              </a:rPr>
              <a:t>При</a:t>
            </a:r>
            <a:r>
              <a:rPr sz="1300" i="1" dirty="0">
                <a:solidFill>
                  <a:srgbClr val="B36A00"/>
                </a:solidFill>
                <a:latin typeface="Calibri"/>
              </a:rPr>
              <a:t> β &gt; 1 </a:t>
            </a:r>
            <a:r>
              <a:rPr sz="1300" i="1" dirty="0" err="1">
                <a:solidFill>
                  <a:srgbClr val="B36A00"/>
                </a:solidFill>
                <a:latin typeface="Calibri"/>
              </a:rPr>
              <a:t>риск</a:t>
            </a:r>
            <a:r>
              <a:rPr sz="13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300" i="1" dirty="0" err="1">
                <a:solidFill>
                  <a:srgbClr val="B36A00"/>
                </a:solidFill>
                <a:latin typeface="Calibri"/>
              </a:rPr>
              <a:t>отказа</a:t>
            </a:r>
            <a:r>
              <a:rPr sz="13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300" i="1" dirty="0" err="1">
                <a:solidFill>
                  <a:srgbClr val="B36A00"/>
                </a:solidFill>
                <a:latin typeface="Calibri"/>
              </a:rPr>
              <a:t>растёт</a:t>
            </a:r>
            <a:r>
              <a:rPr sz="13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300" i="1" dirty="0" err="1">
                <a:solidFill>
                  <a:srgbClr val="B36A00"/>
                </a:solidFill>
                <a:latin typeface="Calibri"/>
              </a:rPr>
              <a:t>по</a:t>
            </a:r>
            <a:r>
              <a:rPr sz="13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300" i="1" dirty="0" err="1">
                <a:solidFill>
                  <a:srgbClr val="B36A00"/>
                </a:solidFill>
                <a:latin typeface="Calibri"/>
              </a:rPr>
              <a:t>мере</a:t>
            </a:r>
            <a:r>
              <a:rPr sz="13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300" i="1" dirty="0" err="1">
                <a:solidFill>
                  <a:srgbClr val="B36A00"/>
                </a:solidFill>
                <a:latin typeface="Calibri"/>
              </a:rPr>
              <a:t>старения</a:t>
            </a:r>
            <a:r>
              <a:rPr sz="1300" i="1" dirty="0">
                <a:solidFill>
                  <a:srgbClr val="B36A00"/>
                </a:solidFill>
                <a:latin typeface="Calibri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1BA7A8-1CDD-49A1-DA96-11CE225A9D41}"/>
              </a:ext>
            </a:extLst>
          </p:cNvPr>
          <p:cNvSpPr txBox="1"/>
          <p:nvPr/>
        </p:nvSpPr>
        <p:spPr>
          <a:xfrm flipH="1">
            <a:off x="6282132" y="5578867"/>
            <a:ext cx="46187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Доля скважин «доживших» до момента времени </a:t>
            </a:r>
            <a:r>
              <a:rPr lang="en-US" i="1" dirty="0"/>
              <a:t>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8A345FE-CF2F-4EAA-D25C-B5857348064E}"/>
              </a:ext>
            </a:extLst>
          </p:cNvPr>
          <p:cNvCxnSpPr>
            <a:cxnSpLocks/>
          </p:cNvCxnSpPr>
          <p:nvPr/>
        </p:nvCxnSpPr>
        <p:spPr>
          <a:xfrm flipH="1" flipV="1">
            <a:off x="5522360" y="4124623"/>
            <a:ext cx="837343" cy="14953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weibull_classical_glob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000" y="900000"/>
            <a:ext cx="6552000" cy="3780000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040000" y="4752000"/>
          <a:ext cx="6552000" cy="199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975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Параметр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Значение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975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n (всего)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2 634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75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Отказов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1 527 (58%)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975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β (форма)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1.05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75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η (масштаб), дн.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573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975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B50 (медиана),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404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975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S(90 дн.)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0.787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975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S(365 дн.)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0.524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08000"/>
            <a:ext cx="112788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3864"/>
                </a:solidFill>
              </a:rPr>
              <a:t>Vt vs Фонд: Weibull-параметры и выживаемость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30000"/>
            <a:ext cx="11278800" cy="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76055" y="504000"/>
            <a:ext cx="4159945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</a:rPr>
              <a:t>Weibull MLE (цензурирование учтено)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576055" y="684000"/>
          <a:ext cx="4159944" cy="628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99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99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99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99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82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Параметр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Фонд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Vt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2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n (всего)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2 634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410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2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Отказов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1 527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268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2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β (форма)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1.05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0.94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−0.11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82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η (масштаб), дн.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573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212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−63%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82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Медиана B50,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404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153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−62%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82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E[T] среднее, дн.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562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218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-61%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82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S(90 дн.)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0.787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0.650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−17%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282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S(365 дн.)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0.524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0.238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−55%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282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Логранк 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&lt;0.001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8" name="Picture 7" descr="km_vt_vs_global_weib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4000"/>
            <a:ext cx="6992856" cy="6066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Структура отказов: категории и Weibull-параметры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km_by_category_fund_v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56000"/>
            <a:ext cx="6316128" cy="592200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917328" y="756000"/>
          <a:ext cx="4818672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46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23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23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23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23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23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23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9870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Категория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Фонд ev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β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η, дн.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Vt ev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β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η, дн.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70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КЛ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351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0.68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5204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0.73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1615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70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ПЭД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252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0.87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4547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58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1.13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934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70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ЭЦН (РО)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546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0.76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2286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0.87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728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870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Гидрозащита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186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1.09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3998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1.10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2503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870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НКТ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147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0.63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25933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0.54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35136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dirty="0" err="1">
                <a:solidFill>
                  <a:srgbClr val="1A2744"/>
                </a:solidFill>
                <a:latin typeface="Calibri"/>
              </a:rPr>
              <a:t>Проблемы</a:t>
            </a:r>
            <a:r>
              <a:rPr sz="2200" b="1" dirty="0">
                <a:solidFill>
                  <a:srgbClr val="1A2744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1A2744"/>
                </a:solidFill>
                <a:latin typeface="Calibri"/>
              </a:rPr>
              <a:t>данных</a:t>
            </a:r>
            <a:r>
              <a:rPr sz="2200" b="1" dirty="0">
                <a:solidFill>
                  <a:srgbClr val="1A2744"/>
                </a:solidFill>
                <a:latin typeface="Calibri"/>
              </a:rPr>
              <a:t>: </a:t>
            </a:r>
            <a:r>
              <a:rPr lang="ru-RU" sz="2200" b="1" dirty="0">
                <a:solidFill>
                  <a:srgbClr val="1A2744"/>
                </a:solidFill>
                <a:latin typeface="Calibri"/>
              </a:rPr>
              <a:t>ННО</a:t>
            </a:r>
            <a:r>
              <a:rPr sz="2200" b="1" dirty="0">
                <a:solidFill>
                  <a:srgbClr val="1A2744"/>
                </a:solidFill>
                <a:latin typeface="Calibri"/>
              </a:rPr>
              <a:t> и </a:t>
            </a:r>
            <a:r>
              <a:rPr sz="2200" b="1" dirty="0" err="1">
                <a:solidFill>
                  <a:srgbClr val="1A2744"/>
                </a:solidFill>
                <a:latin typeface="Calibri"/>
              </a:rPr>
              <a:t>телеметрия</a:t>
            </a:r>
            <a:endParaRPr sz="2200" b="1" dirty="0">
              <a:solidFill>
                <a:srgbClr val="1A2744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11401200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Источники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неопределённости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lang="ru-RU" sz="1600" b="1" dirty="0">
                <a:solidFill>
                  <a:srgbClr val="1F5C99"/>
                </a:solidFill>
                <a:latin typeface="Calibri"/>
              </a:rPr>
              <a:t>ННО</a:t>
            </a:r>
            <a:endParaRPr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 dirty="0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lang="ru-RU" sz="1400" dirty="0">
                <a:solidFill>
                  <a:srgbClr val="222222"/>
                </a:solidFill>
                <a:latin typeface="Calibri"/>
              </a:rPr>
              <a:t>ННО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вычисляется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как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разница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дат</a:t>
            </a:r>
            <a:r>
              <a:rPr lang="ru-RU" sz="1400" dirty="0">
                <a:solidFill>
                  <a:srgbClr val="222222"/>
                </a:solidFill>
                <a:latin typeface="Calibri"/>
              </a:rPr>
              <a:t>ы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остановки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lang="ru-RU" sz="1400" dirty="0">
                <a:solidFill>
                  <a:srgbClr val="222222"/>
                </a:solidFill>
                <a:latin typeface="Calibri"/>
              </a:rPr>
              <a:t>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дат</a:t>
            </a:r>
            <a:r>
              <a:rPr lang="ru-RU" sz="1400" dirty="0">
                <a:solidFill>
                  <a:srgbClr val="222222"/>
                </a:solidFill>
                <a:latin typeface="Calibri"/>
              </a:rPr>
              <a:t>ы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монтажа</a:t>
            </a:r>
            <a:r>
              <a:rPr lang="ru-RU" sz="1400" dirty="0">
                <a:solidFill>
                  <a:srgbClr val="222222"/>
                </a:solidFill>
                <a:latin typeface="Calibri"/>
              </a:rPr>
              <a:t> без учета фактического простоя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Округление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суток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→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погрешность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±1–3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дня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каждый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конец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Задержка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фиксации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события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отказа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в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базе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→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систематическое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завышение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Проблема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цензурирования</a:t>
            </a:r>
            <a:endParaRPr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 dirty="0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42%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точек данных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цензурированы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насос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работает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или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снят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плану</a:t>
            </a:r>
            <a:r>
              <a:rPr sz="1400" dirty="0">
                <a:solidFill>
                  <a:srgbClr val="222222"/>
                </a:solidFill>
                <a:latin typeface="Calibri"/>
              </a:rPr>
              <a:t>,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отказу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Наивный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расчёт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среднего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lang="ru-RU" sz="1400" dirty="0">
                <a:solidFill>
                  <a:srgbClr val="222222"/>
                </a:solidFill>
                <a:latin typeface="Calibri"/>
              </a:rPr>
              <a:t>ННО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без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учёта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цензурирования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даёт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занижение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реального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ресурса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Решение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: Kaplan-Meier и Cox PH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методы</a:t>
            </a:r>
            <a:r>
              <a:rPr sz="1400" dirty="0">
                <a:solidFill>
                  <a:srgbClr val="222222"/>
                </a:solidFill>
                <a:latin typeface="Calibri"/>
              </a:rPr>
              <a:t>,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корректно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учитывающие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цензурирование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Телеметрия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частоты</a:t>
            </a:r>
            <a:endParaRPr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 dirty="0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19–23%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точек данных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имеют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достаточной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частотной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телеметрии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(&lt; 10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дней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Эти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точки данных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исключены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из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анализа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частоты</a:t>
            </a:r>
            <a:r>
              <a:rPr sz="1400" dirty="0">
                <a:solidFill>
                  <a:srgbClr val="222222"/>
                </a:solidFill>
                <a:latin typeface="Calibri"/>
              </a:rPr>
              <a:t>,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входят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в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общий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KM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Bias: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насосы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без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телеметрии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умирают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быстро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медиана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~20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дн</a:t>
            </a:r>
            <a:r>
              <a:rPr sz="1400" dirty="0">
                <a:solidFill>
                  <a:srgbClr val="222222"/>
                </a:solidFill>
                <a:latin typeface="Calibri"/>
              </a:rPr>
              <a:t>.)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их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отсутствие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улучшает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выживаемость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частотных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групп</a:t>
            </a:r>
            <a:endParaRPr sz="1400" dirty="0">
              <a:solidFill>
                <a:srgbClr val="222222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Структура отказов: Vt vs Фонд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5121144" cy="3123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Vt: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электромеханические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отказы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(КЛ + ПЭД) = 46%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переизбыток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относительно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lang="ru-RU" sz="1400" dirty="0">
                <a:solidFill>
                  <a:srgbClr val="222222"/>
                </a:solidFill>
                <a:latin typeface="Calibri"/>
              </a:rPr>
              <a:t>всего фонда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ПЭД в Vt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единственная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категория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с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паттерном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lang="ru-RU" sz="1400" dirty="0">
                <a:solidFill>
                  <a:srgbClr val="222222"/>
                </a:solidFill>
                <a:latin typeface="Calibri"/>
              </a:rPr>
              <a:t>износа </a:t>
            </a:r>
            <a:r>
              <a:rPr sz="1400" dirty="0">
                <a:solidFill>
                  <a:srgbClr val="222222"/>
                </a:solidFill>
                <a:latin typeface="Calibri"/>
              </a:rPr>
              <a:t>(β &gt; 1)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всём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датасете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КЛ в Vt: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наступает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рано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— η=91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дн</a:t>
            </a:r>
            <a:r>
              <a:rPr sz="1400" dirty="0">
                <a:solidFill>
                  <a:srgbClr val="222222"/>
                </a:solidFill>
                <a:latin typeface="Calibri"/>
              </a:rPr>
              <a:t>.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большинство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в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первые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3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месяца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Гидрозащита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в Vt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недопредставлена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возможно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,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выходит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в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составе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ПЭД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 dirty="0">
                <a:solidFill>
                  <a:srgbClr val="B36A00"/>
                </a:solidFill>
                <a:latin typeface="Calibri"/>
              </a:rPr>
              <a:t>H₂S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разрушает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изоляцию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ПЭД и КЛ.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Это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объясняет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переизбыток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электромеханических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отказов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в Vt —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задолго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до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вопроса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о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частоте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i="1" dirty="0">
              <a:solidFill>
                <a:srgbClr val="B36A00"/>
              </a:solidFill>
              <a:latin typeface="Calibri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5499839"/>
              </p:ext>
            </p:extLst>
          </p:nvPr>
        </p:nvGraphicFramePr>
        <p:xfrm>
          <a:off x="486000" y="4052207"/>
          <a:ext cx="5121144" cy="1813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2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2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2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2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Категория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Vt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Global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КЛ (R-0)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+2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ПЭД (R-0)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21%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16%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+5 pp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Слом вала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+2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Засорение РО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15%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12%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+3 pp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НКТ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−3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Гидрозащита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7%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12%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−5 pp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6" name="Picture 5" descr="vt_vs_global_failure_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7144" y="1809583"/>
            <a:ext cx="6100056" cy="366003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Глобальный фонд: Kaplan-Meier по группам частоты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F5B3E6-A97C-2ED9-1C3C-220A8400B528}"/>
              </a:ext>
            </a:extLst>
          </p:cNvPr>
          <p:cNvSpPr txBox="1"/>
          <p:nvPr/>
        </p:nvSpPr>
        <p:spPr>
          <a:xfrm flipH="1">
            <a:off x="7150299" y="5473667"/>
            <a:ext cx="3334478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ННО, дни</a:t>
            </a:r>
            <a:endParaRPr 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E28057-5FC8-F91C-82E1-5C82A982280E}"/>
              </a:ext>
            </a:extLst>
          </p:cNvPr>
          <p:cNvSpPr txBox="1"/>
          <p:nvPr/>
        </p:nvSpPr>
        <p:spPr>
          <a:xfrm rot="16200000" flipH="1">
            <a:off x="4092025" y="3404709"/>
            <a:ext cx="3334478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Выживаемость</a:t>
            </a:r>
            <a:endParaRPr 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661FBF-38CD-5B95-D483-308957593314}"/>
              </a:ext>
            </a:extLst>
          </p:cNvPr>
          <p:cNvSpPr txBox="1"/>
          <p:nvPr/>
        </p:nvSpPr>
        <p:spPr>
          <a:xfrm flipH="1">
            <a:off x="7369481" y="1326065"/>
            <a:ext cx="333447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Сравнение кривых выживаемости для всего фонда</a:t>
            </a:r>
            <a:endParaRPr lang="en-US" sz="1200" dirty="0"/>
          </a:p>
        </p:txBody>
      </p:sp>
      <p:pic>
        <p:nvPicPr>
          <p:cNvPr id="9" name="Picture 8" descr="hf_km_fund_new_def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7144" y="1558404"/>
            <a:ext cx="6100056" cy="416239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dirty="0" err="1">
                <a:solidFill>
                  <a:srgbClr val="1A2744"/>
                </a:solidFill>
                <a:latin typeface="Calibri"/>
              </a:rPr>
              <a:t>ННО vs Накопленная частота: коэффициент подачи (Кпод)</a:t>
            </a:r>
            <a:endParaRPr sz="2200" b="1" dirty="0">
              <a:solidFill>
                <a:srgbClr val="1A2744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F5B3E6-A97C-2ED9-1C3C-220A8400B528}"/>
              </a:ext>
            </a:extLst>
          </p:cNvPr>
          <p:cNvSpPr txBox="1"/>
          <p:nvPr/>
        </p:nvSpPr>
        <p:spPr>
          <a:xfrm flipH="1">
            <a:off x="7150299" y="5473667"/>
            <a:ext cx="3334478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endParaRPr 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E28057-5FC8-F91C-82E1-5C82A982280E}"/>
              </a:ext>
            </a:extLst>
          </p:cNvPr>
          <p:cNvSpPr txBox="1"/>
          <p:nvPr/>
        </p:nvSpPr>
        <p:spPr>
          <a:xfrm rot="16200000" flipH="1">
            <a:off x="4092025" y="3404709"/>
            <a:ext cx="3334478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endParaRPr 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661FBF-38CD-5B95-D483-308957593314}"/>
              </a:ext>
            </a:extLst>
          </p:cNvPr>
          <p:cNvSpPr txBox="1"/>
          <p:nvPr/>
        </p:nvSpPr>
        <p:spPr>
          <a:xfrm flipH="1">
            <a:off x="6676446" y="1331775"/>
            <a:ext cx="4503919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endParaRPr lang="en-US" sz="1200" dirty="0"/>
          </a:p>
        </p:txBody>
      </p:sp>
      <p:pic>
        <p:nvPicPr>
          <p:cNvPr id="9" name="Picture 8" descr="trf_vs_ttf_by_kp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7144" y="1558404"/>
            <a:ext cx="6100056" cy="416239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900000"/>
            <a:ext cx="468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3864"/>
                </a:solidFill>
              </a:rPr>
              <a:t>Бины Кпод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1A1A1A"/>
                </a:solidFill>
              </a:rPr>
              <a:t>• &lt; 0.30: критический недобор дебита — засорение или высокий динамический уровень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1A1A1A"/>
                </a:solidFill>
              </a:rPr>
              <a:t>• 0.30–0.50: пониженная подача, насос работает неэффективно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1A1A1A"/>
                </a:solidFill>
              </a:rPr>
              <a:t>• 0.50–0.70: умеренный недобор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1A1A1A"/>
                </a:solidFill>
              </a:rPr>
              <a:t>• 0.70–1.00: нормальный рабочий диапазон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1A1A1A"/>
                </a:solidFill>
              </a:rPr>
              <a:t>• 1.00–1.20: лёгкая перегрузка — абразивный износ РО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1A1A1A"/>
                </a:solidFill>
              </a:rPr>
              <a:t>• &gt; 1.20: значительная перегрузка</a:t>
            </a:r>
          </a:p>
        </p:txBody>
      </p:sp>
    </p:spTree>
    <p:extLst>
      <p:ext uri="{BB962C8B-B14F-4D97-AF65-F5344CB8AC3E}">
        <p14:creationId xmlns:p14="http://schemas.microsoft.com/office/powerpoint/2010/main" val="9156219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08000"/>
            <a:ext cx="112788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3864"/>
                </a:solidFill>
              </a:rPr>
              <a:t>ННО vs Накопленная частота: коэффициент подачи (Кпод) — крупный план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30000"/>
            <a:ext cx="11278800" cy="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trf_vs_ttf_by_kpod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4000"/>
            <a:ext cx="11278800" cy="6066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dirty="0" err="1">
                <a:solidFill>
                  <a:srgbClr val="1A2744"/>
                </a:solidFill>
                <a:latin typeface="Calibri"/>
              </a:rPr>
              <a:t>Глобальный</a:t>
            </a:r>
            <a:r>
              <a:rPr sz="2200" b="1" dirty="0">
                <a:solidFill>
                  <a:srgbClr val="1A2744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1A2744"/>
                </a:solidFill>
                <a:latin typeface="Calibri"/>
              </a:rPr>
              <a:t>фонд</a:t>
            </a:r>
            <a:r>
              <a:rPr sz="2200" b="1" dirty="0">
                <a:solidFill>
                  <a:srgbClr val="1A2744"/>
                </a:solidFill>
                <a:latin typeface="Calibri"/>
              </a:rPr>
              <a:t>: Kaplan-Meier </a:t>
            </a:r>
            <a:r>
              <a:rPr sz="2200" b="1" dirty="0" err="1">
                <a:solidFill>
                  <a:srgbClr val="1A2744"/>
                </a:solidFill>
                <a:latin typeface="Calibri"/>
              </a:rPr>
              <a:t>по</a:t>
            </a:r>
            <a:r>
              <a:rPr sz="2200" b="1" dirty="0">
                <a:solidFill>
                  <a:srgbClr val="1A2744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1A2744"/>
                </a:solidFill>
                <a:latin typeface="Calibri"/>
              </a:rPr>
              <a:t>группам</a:t>
            </a:r>
            <a:r>
              <a:rPr sz="2200" b="1" dirty="0">
                <a:solidFill>
                  <a:srgbClr val="1A2744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1A2744"/>
                </a:solidFill>
                <a:latin typeface="Calibri"/>
              </a:rPr>
              <a:t>частот</a:t>
            </a:r>
            <a:endParaRPr sz="2200" b="1" dirty="0">
              <a:solidFill>
                <a:srgbClr val="1A2744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5121144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Анализ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выживаемости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по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частотным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группам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lang="ru-RU" sz="1600" b="1" dirty="0">
                <a:solidFill>
                  <a:srgbClr val="1F5C99"/>
                </a:solidFill>
                <a:latin typeface="Calibri"/>
              </a:rPr>
              <a:t>с использованием накопленых частот</a:t>
            </a:r>
            <a:endParaRPr sz="1600" b="1" dirty="0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lang="ru-RU" sz="1400" dirty="0">
                <a:solidFill>
                  <a:srgbClr val="222222"/>
                </a:solidFill>
                <a:latin typeface="Calibri"/>
              </a:rPr>
              <a:t>Глобально повышенные частоты «смотрятся» как базис с использованием накопленых частот в качестве параметра определения ресурса, медиана </a:t>
            </a:r>
            <a:r>
              <a:rPr lang="en-US" sz="1400" dirty="0">
                <a:solidFill>
                  <a:srgbClr val="222222"/>
                </a:solidFill>
                <a:latin typeface="Calibri"/>
              </a:rPr>
              <a:t>~ 12000 </a:t>
            </a:r>
            <a:r>
              <a:rPr lang="ru-RU" sz="1400" dirty="0">
                <a:solidFill>
                  <a:srgbClr val="222222"/>
                </a:solidFill>
                <a:latin typeface="Calibri"/>
              </a:rPr>
              <a:t>Гц дней.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lang="en-US" sz="1400" dirty="0">
                <a:solidFill>
                  <a:srgbClr val="222222"/>
                </a:solidFill>
                <a:latin typeface="Calibri"/>
              </a:rPr>
              <a:t>•</a:t>
            </a:r>
            <a:r>
              <a:rPr lang="ru-RU" sz="1400" dirty="0">
                <a:solidFill>
                  <a:srgbClr val="222222"/>
                </a:solidFill>
                <a:latin typeface="Calibri"/>
              </a:rPr>
              <a:t> При нормальном износе, снижения наработки на отказ по накполенным частотам нет, что приводит к снижению ННО в днях.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i="1" dirty="0">
              <a:solidFill>
                <a:srgbClr val="B36A00"/>
              </a:solidFill>
              <a:latin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F5B3E6-A97C-2ED9-1C3C-220A8400B528}"/>
              </a:ext>
            </a:extLst>
          </p:cNvPr>
          <p:cNvSpPr txBox="1"/>
          <p:nvPr/>
        </p:nvSpPr>
        <p:spPr>
          <a:xfrm flipH="1">
            <a:off x="6137231" y="5087240"/>
            <a:ext cx="3334478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Накопленная частота Гц дни</a:t>
            </a:r>
            <a:endParaRPr 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E28057-5FC8-F91C-82E1-5C82A982280E}"/>
              </a:ext>
            </a:extLst>
          </p:cNvPr>
          <p:cNvSpPr txBox="1"/>
          <p:nvPr/>
        </p:nvSpPr>
        <p:spPr>
          <a:xfrm rot="16200000" flipH="1">
            <a:off x="4005623" y="3057157"/>
            <a:ext cx="3334478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Выживаемость</a:t>
            </a:r>
            <a:endParaRPr 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661FBF-38CD-5B95-D483-308957593314}"/>
              </a:ext>
            </a:extLst>
          </p:cNvPr>
          <p:cNvSpPr txBox="1"/>
          <p:nvPr/>
        </p:nvSpPr>
        <p:spPr>
          <a:xfrm flipH="1">
            <a:off x="5947309" y="1360846"/>
            <a:ext cx="4503919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Кривые выживаемости для накопленной частоты</a:t>
            </a:r>
            <a:endParaRPr lang="en-US" sz="12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06F0624-3C64-D01A-E235-694320D6E4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24" t="14127" r="32195" b="9769"/>
          <a:stretch/>
        </p:blipFill>
        <p:spPr>
          <a:xfrm>
            <a:off x="5811362" y="1637845"/>
            <a:ext cx="3857625" cy="333447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D25A889-9051-42C5-F4B0-BD71AFA386C6}"/>
              </a:ext>
            </a:extLst>
          </p:cNvPr>
          <p:cNvSpPr txBox="1"/>
          <p:nvPr/>
        </p:nvSpPr>
        <p:spPr>
          <a:xfrm>
            <a:off x="9728735" y="2123820"/>
            <a:ext cx="24336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&gt;50% </a:t>
            </a:r>
            <a:r>
              <a:rPr lang="ru-RU" sz="1100" dirty="0"/>
              <a:t>врмени на пониженых частотах</a:t>
            </a:r>
            <a:endParaRPr lang="en-US" sz="11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B07DA3-BFB6-196E-E557-DA09088478EF}"/>
              </a:ext>
            </a:extLst>
          </p:cNvPr>
          <p:cNvSpPr txBox="1"/>
          <p:nvPr/>
        </p:nvSpPr>
        <p:spPr>
          <a:xfrm>
            <a:off x="9740858" y="2309230"/>
            <a:ext cx="5229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/>
              <a:t>базис</a:t>
            </a:r>
            <a:endParaRPr lang="en-US" sz="11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F5DB73-9F2B-603B-FD74-BF0EAF66321D}"/>
              </a:ext>
            </a:extLst>
          </p:cNvPr>
          <p:cNvSpPr txBox="1"/>
          <p:nvPr/>
        </p:nvSpPr>
        <p:spPr>
          <a:xfrm>
            <a:off x="9738260" y="2479770"/>
            <a:ext cx="24481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&gt;50% </a:t>
            </a:r>
            <a:r>
              <a:rPr lang="ru-RU" sz="1100" dirty="0"/>
              <a:t>врмени на повышеных частотах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3179906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ННО vs Накопленная частота: категории отказов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5121144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Как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читать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облако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точек</a:t>
            </a:r>
            <a:endParaRPr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 dirty="0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Ось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X: ННО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наработка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отказ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дней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Ось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Y: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накопленная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суммарная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частотная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нагрузка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Гц·дней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Диагональные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линии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накопл</a:t>
            </a:r>
            <a:r>
              <a:rPr sz="1400" dirty="0">
                <a:solidFill>
                  <a:srgbClr val="222222"/>
                </a:solidFill>
                <a:latin typeface="Calibri"/>
              </a:rPr>
              <a:t>.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=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Гц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× ННО →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средняя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рабочая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насоса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Точки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выше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линии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60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Гц</a:t>
            </a:r>
            <a:r>
              <a:rPr sz="1400" dirty="0">
                <a:solidFill>
                  <a:srgbClr val="222222"/>
                </a:solidFill>
                <a:latin typeface="Calibri"/>
              </a:rPr>
              <a:t>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насос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работал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преимущественно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&gt;60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Гц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Цвет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точки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категория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отказа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без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«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Прочее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» и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без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данных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Что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видно</a:t>
            </a:r>
            <a:endParaRPr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 dirty="0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Большинство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точек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сосредоточены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в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полосе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40–60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Гц-линий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КЛ и ПЭД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равномерно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распределены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всем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частотным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зонам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Засорение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РО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тяготеет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к 60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Гц-линии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согласуется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с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гидравлической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гипотезой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Короткие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ННО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встречаются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любой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единственный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фактор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</p:txBody>
      </p:sp>
      <p:pic>
        <p:nvPicPr>
          <p:cNvPr id="5" name="Picture 4" descr="trf_vs_ttf_by_categ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2996" y="817200"/>
            <a:ext cx="5488352" cy="5644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ННО vs Накопленная частота: категории отказов (крупный план)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862FDC-7749-7ADF-469B-105E419CD3AA}"/>
              </a:ext>
            </a:extLst>
          </p:cNvPr>
          <p:cNvSpPr txBox="1"/>
          <p:nvPr/>
        </p:nvSpPr>
        <p:spPr>
          <a:xfrm>
            <a:off x="396000" y="817200"/>
            <a:ext cx="5121144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Как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читать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облако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точек</a:t>
            </a:r>
            <a:endParaRPr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 dirty="0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Ось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X: ННО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наработка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отказ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дней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Ось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Y: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накопленная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суммарная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частотная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нагрузка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Гц·дней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Диагональные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линии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накопл</a:t>
            </a:r>
            <a:r>
              <a:rPr sz="1400" dirty="0">
                <a:solidFill>
                  <a:srgbClr val="222222"/>
                </a:solidFill>
                <a:latin typeface="Calibri"/>
              </a:rPr>
              <a:t>.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=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Гц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× ННО →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средняя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рабочая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насоса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Точки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выше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линии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60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Гц</a:t>
            </a:r>
            <a:r>
              <a:rPr sz="1400" dirty="0">
                <a:solidFill>
                  <a:srgbClr val="222222"/>
                </a:solidFill>
                <a:latin typeface="Calibri"/>
              </a:rPr>
              <a:t>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насос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работал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преимущественно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&gt;60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Гц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Цвет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точки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категория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отказа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без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«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Прочее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» и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без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данных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Что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видно</a:t>
            </a:r>
            <a:endParaRPr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 dirty="0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Большинство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точек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сосредоточены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в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полосе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40–60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Гц-линий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КЛ и ПЭД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равномерно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распределены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всем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частотным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зонам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Засорение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РО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тяготеет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к 60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Гц-линии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согласуется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с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гидравлической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гипотезой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Короткие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ННО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встречаются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любой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единственный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фактор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</p:txBody>
      </p:sp>
      <p:pic>
        <p:nvPicPr>
          <p:cNvPr id="8" name="Picture 7" descr="trf_vs_ttf_by_category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2329" y="817200"/>
            <a:ext cx="5749686" cy="5644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ННО vs Накопленная частота: H₂S (Кислый / Некислый)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5121144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Интерпретация</a:t>
            </a:r>
            <a:endParaRPr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 dirty="0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Кислые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скважины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красный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разброс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всей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плоскости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— H₂S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атакует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электромеханику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независимо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рабочей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частоты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Некислые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скважины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зелёный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жизнь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в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среднем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длиннее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кластер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сдвинут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вправо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оси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ННО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Обе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группы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присутствуют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всём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диапазоне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частотных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линий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— H₂S и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действуют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независимо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 dirty="0" err="1">
                <a:solidFill>
                  <a:srgbClr val="B36A00"/>
                </a:solidFill>
                <a:latin typeface="Calibri"/>
              </a:rPr>
              <a:t>Бинарный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порог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(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Кислый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≥ 3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мг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/л)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огрубляет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картину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.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Следующий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слайд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показывает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4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бина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прокси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H₂S.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i="1" dirty="0">
              <a:solidFill>
                <a:srgbClr val="B36A00"/>
              </a:solidFill>
              <a:latin typeface="Calibri"/>
            </a:endParaRPr>
          </a:p>
        </p:txBody>
      </p:sp>
      <p:pic>
        <p:nvPicPr>
          <p:cNvPr id="5" name="Picture 4" descr="trf_vs_ttf_by_h2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2656" y="817200"/>
            <a:ext cx="5649031" cy="564479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ННО vs Накопленная частота: H₂S (Кислый / Некислый) — крупный план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736B03-296D-7442-C5E3-5EF0406D25F8}"/>
              </a:ext>
            </a:extLst>
          </p:cNvPr>
          <p:cNvSpPr txBox="1"/>
          <p:nvPr/>
        </p:nvSpPr>
        <p:spPr>
          <a:xfrm>
            <a:off x="396000" y="817200"/>
            <a:ext cx="5121144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Интерпретация</a:t>
            </a:r>
            <a:endParaRPr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 dirty="0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Кислые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скважины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красный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разброс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всей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плоскости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— H₂S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атакует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электромеханику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независимо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рабочей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частоты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Некислые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скважины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зелёный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жизнь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в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среднем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длиннее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кластер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сдвинут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вправо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оси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ННО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Обе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группы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присутствуют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всём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диапазоне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частотных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линий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— H₂S и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действуют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независимо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 dirty="0" err="1">
                <a:solidFill>
                  <a:srgbClr val="B36A00"/>
                </a:solidFill>
                <a:latin typeface="Calibri"/>
              </a:rPr>
              <a:t>Бинарный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порог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(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Кислый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≥ 3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мг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/л)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огрубляет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картину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.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Следующий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слайд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показывает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4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бина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прокси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H₂S.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i="1" dirty="0">
              <a:solidFill>
                <a:srgbClr val="B36A00"/>
              </a:solidFill>
              <a:latin typeface="Calibri"/>
            </a:endParaRPr>
          </a:p>
        </p:txBody>
      </p:sp>
      <p:pic>
        <p:nvPicPr>
          <p:cNvPr id="7" name="Picture 6" descr="trf_vs_ttf_by_h2s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2329" y="817200"/>
            <a:ext cx="5749686" cy="5644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ННО vs Накопленная частота: H₂S (лог. бины: &lt;1, 1–10, 10–100, 100–1000 мг/л)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2BBEA3-BB0C-B753-161A-A56C8F798BD1}"/>
              </a:ext>
            </a:extLst>
          </p:cNvPr>
          <p:cNvSpPr txBox="1"/>
          <p:nvPr/>
        </p:nvSpPr>
        <p:spPr>
          <a:xfrm>
            <a:off x="396000" y="817200"/>
            <a:ext cx="5121144" cy="5724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Бины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H₂S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прокси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(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мг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/л)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Что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видно</a:t>
            </a:r>
            <a:endParaRPr sz="1600" b="1" dirty="0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&lt;1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мг</a:t>
            </a:r>
            <a:r>
              <a:rPr sz="1400" dirty="0">
                <a:solidFill>
                  <a:srgbClr val="222222"/>
                </a:solidFill>
                <a:latin typeface="Calibri"/>
              </a:rPr>
              <a:t>/л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зелёный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выраженного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смещения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в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сторону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короткого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ННО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&gt;20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мг</a:t>
            </a:r>
            <a:r>
              <a:rPr sz="1400" dirty="0">
                <a:solidFill>
                  <a:srgbClr val="222222"/>
                </a:solidFill>
                <a:latin typeface="Calibri"/>
              </a:rPr>
              <a:t>/л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красный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сконцентрированы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в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нижней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облака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короткий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ННО),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преимущественно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вдоль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линий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50–60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Гц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1–20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мг</a:t>
            </a:r>
            <a:r>
              <a:rPr sz="1400" dirty="0">
                <a:solidFill>
                  <a:srgbClr val="222222"/>
                </a:solidFill>
                <a:latin typeface="Calibri"/>
              </a:rPr>
              <a:t>/л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оранжевый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промежуточный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паттерн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Механизм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: H₂S +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высокая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температура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→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необратимая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коррозия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изоляции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ПЭД и КЛ</a:t>
            </a: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 dirty="0" err="1">
                <a:solidFill>
                  <a:srgbClr val="B36A00"/>
                </a:solidFill>
                <a:latin typeface="Calibri"/>
              </a:rPr>
              <a:t>Дробление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H₂S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4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бина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подтверждает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: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риск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нарастает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дозозависимо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, а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не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скачком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пороге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«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Кислый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/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Некислый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».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i="1" dirty="0">
              <a:solidFill>
                <a:srgbClr val="B36A00"/>
              </a:solidFill>
              <a:latin typeface="Calibri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E50D6B0-6F32-330B-A8B5-803F84F261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0137980"/>
              </p:ext>
            </p:extLst>
          </p:nvPr>
        </p:nvGraphicFramePr>
        <p:xfrm>
          <a:off x="396000" y="3311258"/>
          <a:ext cx="5121144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7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7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7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Бин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Описание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Цвет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&lt;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нет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данных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Нет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данных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телеметрии</a:t>
                      </a:r>
                      <a:endParaRPr sz="1100" b="0" dirty="0">
                        <a:solidFill>
                          <a:srgbClr val="222222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Серый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&lt;1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мг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/л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Некислая среда — минимальный риск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Зелёный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1–20 мг/л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Умеренно кислая — повышенный риск КЛ/ПЭД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Оранжевый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&gt;20 мг/л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Высоко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кислая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 —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максимальный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риск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изоляции</a:t>
                      </a:r>
                      <a:endParaRPr sz="1100" b="0" dirty="0">
                        <a:solidFill>
                          <a:srgbClr val="222222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Красный</a:t>
                      </a:r>
                      <a:endParaRPr sz="1100" b="0" dirty="0">
                        <a:solidFill>
                          <a:srgbClr val="222222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0" name="Picture 9" descr="trf_vs_ttf_by_h2s_l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4941" y="817200"/>
            <a:ext cx="5564462" cy="5644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ННО vs Накопленная частота: H₂S (лог. бины) — крупный план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4D0DF5-BE8D-3878-455C-57BC977044A6}"/>
              </a:ext>
            </a:extLst>
          </p:cNvPr>
          <p:cNvSpPr txBox="1"/>
          <p:nvPr/>
        </p:nvSpPr>
        <p:spPr>
          <a:xfrm>
            <a:off x="396000" y="817200"/>
            <a:ext cx="5121144" cy="5724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Бины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H₂S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прокси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(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мг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/л)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Что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видно</a:t>
            </a:r>
            <a:endParaRPr sz="1600" b="1" dirty="0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&lt;1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мг</a:t>
            </a:r>
            <a:r>
              <a:rPr sz="1400" dirty="0">
                <a:solidFill>
                  <a:srgbClr val="222222"/>
                </a:solidFill>
                <a:latin typeface="Calibri"/>
              </a:rPr>
              <a:t>/л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зелёный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выраженного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смещения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в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сторону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короткого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ННО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&gt;20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мг</a:t>
            </a:r>
            <a:r>
              <a:rPr sz="1400" dirty="0">
                <a:solidFill>
                  <a:srgbClr val="222222"/>
                </a:solidFill>
                <a:latin typeface="Calibri"/>
              </a:rPr>
              <a:t>/л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красный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сконцентрированы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в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нижней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облака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короткий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ННО),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преимущественно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вдоль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линий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50–60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Гц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1–20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мг</a:t>
            </a:r>
            <a:r>
              <a:rPr sz="1400" dirty="0">
                <a:solidFill>
                  <a:srgbClr val="222222"/>
                </a:solidFill>
                <a:latin typeface="Calibri"/>
              </a:rPr>
              <a:t>/л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оранжевый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промежуточный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паттерн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Механизм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: H₂S +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высокая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температура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→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необратимая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коррозия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изоляции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ПЭД и КЛ</a:t>
            </a: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 dirty="0" err="1">
                <a:solidFill>
                  <a:srgbClr val="B36A00"/>
                </a:solidFill>
                <a:latin typeface="Calibri"/>
              </a:rPr>
              <a:t>Дробление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H₂S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4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бина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подтверждает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: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риск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нарастает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дозозависимо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, а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не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скачком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пороге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«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Кислый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/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Некислый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».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i="1" dirty="0">
              <a:solidFill>
                <a:srgbClr val="B36A00"/>
              </a:solidFill>
              <a:latin typeface="Calibri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5526434-D77F-5965-07AC-64BC095ED0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4885174"/>
              </p:ext>
            </p:extLst>
          </p:nvPr>
        </p:nvGraphicFramePr>
        <p:xfrm>
          <a:off x="396000" y="3311258"/>
          <a:ext cx="5121144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7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7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7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Бин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Описание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Цвет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&lt;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нет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данных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Нет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данных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телеметрии</a:t>
                      </a:r>
                      <a:endParaRPr sz="1100" b="0" dirty="0">
                        <a:solidFill>
                          <a:srgbClr val="222222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Серый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&lt;1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мг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/л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Некислая среда — минимальный риск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Зелёный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1–20 мг/л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Умеренно кислая — повышенный риск КЛ/ПЭД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Оранжевый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&gt;20 мг/л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Высоко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кислая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 —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максимальный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риск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изоляции</a:t>
                      </a:r>
                      <a:endParaRPr sz="1100" b="0" dirty="0">
                        <a:solidFill>
                          <a:srgbClr val="222222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Красный</a:t>
                      </a:r>
                      <a:endParaRPr sz="1100" b="0" dirty="0">
                        <a:solidFill>
                          <a:srgbClr val="222222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" name="Picture 7" descr="trf_vs_ttf_by_h2s_log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9899" y="817200"/>
            <a:ext cx="5754546" cy="56448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ННО vs Накопленная частота: прокси осадков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5121144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Интерпретация</a:t>
            </a:r>
            <a:endParaRPr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 dirty="0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Высокая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осадкообразующая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нагрузка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тёмно-красный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накапливается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вдоль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низкочастотных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линий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(40–50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Гц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Механизм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низкой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дебит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ниже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→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скорость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потока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меньше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→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осадки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оседают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→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засорение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высокой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осадки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уносятся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потоком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,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возрастает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абразивный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износ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РО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Spearman ρ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между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кальцием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/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хлоридами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и P(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ранний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отказ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 = +0.45–0.49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сильнейший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предиктор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 dirty="0" err="1">
                <a:solidFill>
                  <a:srgbClr val="B36A00"/>
                </a:solidFill>
                <a:latin typeface="Calibri"/>
              </a:rPr>
              <a:t>Химия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пласта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и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частота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взаимосвязаны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: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режим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выбирается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из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соображений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дебита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, а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дебит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определяет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химическую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нагрузку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.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Низкочастотные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скважины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чаще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страдают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от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осадков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;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высокочастотные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—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от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абразивного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износа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i="1" dirty="0">
              <a:solidFill>
                <a:srgbClr val="B36A00"/>
              </a:solidFill>
              <a:latin typeface="Calibri"/>
            </a:endParaRPr>
          </a:p>
        </p:txBody>
      </p:sp>
      <p:pic>
        <p:nvPicPr>
          <p:cNvPr id="5" name="Picture 4" descr="trf_vs_ttf_by_precipit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6653" y="817200"/>
            <a:ext cx="5501037" cy="56448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ННО vs Накопленная частота: прокси осадков — крупный план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6CF22B-DABC-8F15-8730-1B9277ECC247}"/>
              </a:ext>
            </a:extLst>
          </p:cNvPr>
          <p:cNvSpPr txBox="1"/>
          <p:nvPr/>
        </p:nvSpPr>
        <p:spPr>
          <a:xfrm>
            <a:off x="396000" y="817200"/>
            <a:ext cx="5121144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Интерпретация</a:t>
            </a:r>
            <a:endParaRPr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 dirty="0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Высокая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осадкообразующая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нагрузка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тёмно-красный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накапливается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вдоль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низкочастотных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линий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(40–50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Гц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Механизм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низкой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дебит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ниже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→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скорость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потока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меньше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→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осадки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оседают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→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засорение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высокой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осадки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уносятся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потоком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,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возрастает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абразивный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износ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РО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Spearman ρ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между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кальцием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/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хлоридами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и P(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ранний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отказ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 = +0.45–0.49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сильнейший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предиктор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 dirty="0" err="1">
                <a:solidFill>
                  <a:srgbClr val="B36A00"/>
                </a:solidFill>
                <a:latin typeface="Calibri"/>
              </a:rPr>
              <a:t>Химия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пласта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и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частота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взаимосвязаны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: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режим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выбирается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из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соображений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дебита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, а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дебит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определяет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химическую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нагрузку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.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Низкочастотные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скважины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чаще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страдают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от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осадков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;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высокочастотные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—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от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абразивного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износа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i="1" dirty="0">
              <a:solidFill>
                <a:srgbClr val="B36A00"/>
              </a:solidFill>
              <a:latin typeface="Calibri"/>
            </a:endParaRPr>
          </a:p>
        </p:txBody>
      </p:sp>
      <p:pic>
        <p:nvPicPr>
          <p:cNvPr id="7" name="Picture 6" descr="trf_vs_ttf_by_precipitate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2329" y="817200"/>
            <a:ext cx="5749686" cy="56448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ННО vs Накопленная частота: газовый фактор (ГФ)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5121144" cy="5539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Бины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газового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фактора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(м³/м³)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Что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показывает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облако</a:t>
            </a:r>
            <a:endParaRPr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 dirty="0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Зависимость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нелинейна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: ГФ 300–700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хуже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,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чем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ГФ &gt;700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Бин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ГФ 300–700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концентрирует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точки данных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из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Vt (35%),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которые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коротко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живут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из-за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H₂S, — а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из-за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газа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ГФ &gt;700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доминирован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полями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с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лучшей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выживаемостью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(Ya, Za)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Медианная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рабочая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меняется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бинам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ГФ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все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≈50–51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Гц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</a:t>
            </a: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 dirty="0" err="1">
                <a:solidFill>
                  <a:srgbClr val="B36A00"/>
                </a:solidFill>
                <a:latin typeface="Calibri"/>
              </a:rPr>
              <a:t>Прямой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связи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«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больше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ГФ →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короче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ННО» в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данных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нет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.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Наблюдаемые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различия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конфаундированы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составом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по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полям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i="1" dirty="0">
              <a:solidFill>
                <a:srgbClr val="B36A00"/>
              </a:solidFill>
              <a:latin typeface="Calibri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3726029"/>
              </p:ext>
            </p:extLst>
          </p:nvPr>
        </p:nvGraphicFramePr>
        <p:xfrm>
          <a:off x="396000" y="3490829"/>
          <a:ext cx="5121140" cy="163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42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42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42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42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42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Бин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Медиана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 ННО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S(365)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Главные поля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ГФ ≤100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179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0.476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Ya (72%)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ГФ 100–300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1 001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235 дн.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0.550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Ya (65%)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ГФ 300–700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692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169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0.461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Vt (35%), Ya (28%)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ГФ &gt;700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423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217 дн.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0.584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Ya, Za, Az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6" name="Picture 5" descr="trf_vs_ttf_by_gl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3054" y="817200"/>
            <a:ext cx="5488235" cy="564479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ННО vs Накопленная частота: газовый фактор — крупный план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12CE71-A415-D74D-63F6-1058A769CAD9}"/>
              </a:ext>
            </a:extLst>
          </p:cNvPr>
          <p:cNvSpPr txBox="1"/>
          <p:nvPr/>
        </p:nvSpPr>
        <p:spPr>
          <a:xfrm>
            <a:off x="396000" y="817200"/>
            <a:ext cx="5121144" cy="5539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Бины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газового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фактора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(м³/м³)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Что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показывает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облако</a:t>
            </a:r>
            <a:endParaRPr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 dirty="0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Зависимость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нелинейна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: ГФ 300–700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хуже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,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чем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ГФ &gt;700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Бин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ГФ 300–700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концентрирует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точки данных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из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Vt (35%),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которые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коротко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живут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из-за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H₂S, — а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из-за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газа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ГФ &gt;700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доминирован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полями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с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лучшей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выживаемостью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(Ya, Za)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Медианная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рабочая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меняется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бинам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ГФ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все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≈50–51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Гц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</a:t>
            </a: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 dirty="0" err="1">
                <a:solidFill>
                  <a:srgbClr val="B36A00"/>
                </a:solidFill>
                <a:latin typeface="Calibri"/>
              </a:rPr>
              <a:t>Прямой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связи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«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больше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ГФ →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короче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ННО» в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данных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нет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.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Наблюдаемые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различия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конфаундированы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составом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по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полям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i="1" dirty="0">
              <a:solidFill>
                <a:srgbClr val="B36A00"/>
              </a:solidFill>
              <a:latin typeface="Calibri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2448D52-E6DB-C2A3-D1AD-C56CC02B47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2002615"/>
              </p:ext>
            </p:extLst>
          </p:nvPr>
        </p:nvGraphicFramePr>
        <p:xfrm>
          <a:off x="396000" y="3490829"/>
          <a:ext cx="5121140" cy="163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42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42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42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42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42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Бин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Медиана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 ННО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S(365)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Главные поля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ГФ ≤100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179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0.476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Ya (72%)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ГФ 100–300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1 001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235 дн.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0.550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Ya (65%)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ГФ 300–700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692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169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0.461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Vt (35%), Ya (28%)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ГФ &gt;700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423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217 дн.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0.584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Ya, Za, Az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" name="Picture 7" descr="trf_vs_ttf_by_glf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2240" y="817200"/>
            <a:ext cx="5749863" cy="56448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Газовый фактор: выживаемость и конфаундинг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5121144" cy="4870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>
                <a:solidFill>
                  <a:srgbClr val="1F5C99"/>
                </a:solidFill>
                <a:latin typeface="Calibri"/>
              </a:rPr>
              <a:t>KM-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анализ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по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ГФ-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бинам</a:t>
            </a:r>
            <a:endParaRPr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Почему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ГФ 300–700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выглядит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хуже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всего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?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 dirty="0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В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этом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бине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244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точки данных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из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Vt (35%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бина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поле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с H₂S×10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выше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нормы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Уберите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Vt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разрыв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между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бинами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исчезает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Рабочая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всем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бинам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одинакова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(~50–51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Гц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 →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медиатор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Вывод</a:t>
            </a:r>
            <a:endParaRPr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 dirty="0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ГФ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сам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себе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является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независимым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предиктором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ННО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наличии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поля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как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конфаундера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Низкая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выживаемость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в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зоне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ГФ 300–700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это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Vt-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эффект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(H₂S), а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газовый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эффект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Для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управленческих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решений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учитывать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поле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и H₂S,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ГФ в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одиночку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7984473"/>
              </p:ext>
            </p:extLst>
          </p:nvPr>
        </p:nvGraphicFramePr>
        <p:xfrm>
          <a:off x="6096600" y="5247271"/>
          <a:ext cx="51211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42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42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42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42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42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ГФ-бин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S(90)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S(180)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S(365)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Медиана ННО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ГФ 100–300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0.808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0.696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0.550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235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ГФ &gt;700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0.805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0.725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0.584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217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дн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ГФ ≤100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0.767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0.652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0.476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179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ГФ 300–700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0.772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0.637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0.461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169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дн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6" name="Picture 5" descr="glf_vs_nno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7144" y="2195099"/>
            <a:ext cx="6100056" cy="288900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08000"/>
            <a:ext cx="112788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3864"/>
                </a:solidFill>
              </a:rPr>
              <a:t>H₂S: выживаемость по логарифмическим бинам — Фонд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30000"/>
            <a:ext cx="11278800" cy="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h2s_log_km_f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4000"/>
            <a:ext cx="7105644" cy="599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06844" y="684000"/>
            <a:ext cx="4029156" cy="59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1A1A1A"/>
                </a:solidFill>
              </a:rPr>
              <a:t>• &lt; 1 мг/л (n=1 382): медиана 451 дн. — базовый уровень риска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1A1A1A"/>
                </a:solidFill>
              </a:rPr>
              <a:t>• 1–10 мг/л (n=210): медиана 255 дн., S(365)=0.416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1A1A1A"/>
                </a:solidFill>
              </a:rPr>
              <a:t>• 10–100 мг/л (n=202): медиана 200 дн., S(365)=0.305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1A1A1A"/>
                </a:solidFill>
              </a:rPr>
              <a:t>• 100–1000 мг/л (n=125): медиана 89 дн., S(365)=0.091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1A1A1A"/>
                </a:solidFill>
              </a:rPr>
              <a:t>• Монотонная доза-реакция: каждая декада H₂S ≈ вдвое сокращает ресурс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1A1A1A"/>
                </a:solidFill>
              </a:rPr>
              <a:t>• Логранк p &lt; 0.001 по всем парам групп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08000"/>
            <a:ext cx="112788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3864"/>
                </a:solidFill>
              </a:rPr>
              <a:t>H₂S: выживаемость по логарифмическим бинам — Vt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30000"/>
            <a:ext cx="11278800" cy="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h2s_log_km_v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4000"/>
            <a:ext cx="11278800" cy="6066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Высокочастотные точки данных: &gt;50% рабочего времени выше 55 Гц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5121144" cy="60478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Описание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группы</a:t>
            </a:r>
            <a:endParaRPr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Структура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отказов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при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ВЧ-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режиме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в Vt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 dirty="0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Слом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вала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: +9 pp (23.8% vs 14.6%)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повышенный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пусковой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момент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Засорение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РО: +8 pp (21.4% vs 13.3%)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высокий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дебит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,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вынос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механических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примесей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ПЭД и КЛ: −5–6 pp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отбор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скважин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с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лучшей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изоляцией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endParaRPr lang="en-US" sz="1400" i="1" dirty="0">
              <a:solidFill>
                <a:srgbClr val="B36A00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 dirty="0" err="1">
                <a:solidFill>
                  <a:srgbClr val="B36A00"/>
                </a:solidFill>
                <a:latin typeface="Calibri"/>
              </a:rPr>
              <a:t>Вывод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: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Стабильная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работа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&gt;55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Гц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большую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часть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срока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—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нейтральна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по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среднему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и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медианному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ННО.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Риск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смещается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к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механическим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категориям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(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вал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, РО),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но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не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к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сокращению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общего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ресурса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i="1" dirty="0">
              <a:solidFill>
                <a:srgbClr val="B36A00"/>
              </a:solidFill>
              <a:latin typeface="Calibri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6970500"/>
              </p:ext>
            </p:extLst>
          </p:nvPr>
        </p:nvGraphicFramePr>
        <p:xfrm>
          <a:off x="396000" y="2989831"/>
          <a:ext cx="5121144" cy="249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7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7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7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Параметр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ВЧ-точки данных (&gt;55 Гц &gt;50% вр.)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Базис (50–55 Гц)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n (Global)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408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775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n (Vt)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42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82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Событий (Global)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266 (65.2%)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495 (63.9%)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Медиана ННО (Global)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~160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дн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~152 дн.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RMST(365 дн.) Global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222.5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222.0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Cox HR (Global)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1.11 [≈0.9–1.4]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Медиана ННО (Vt)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~171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~151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RMST(365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дн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.) Vt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174.4 дн.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167.1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дн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6" name="Picture 5" descr="hf_runs_km_glob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7144" y="2301099"/>
            <a:ext cx="6100056" cy="267700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dirty="0">
                <a:solidFill>
                  <a:srgbClr val="1A2744"/>
                </a:solidFill>
                <a:latin typeface="Calibri"/>
              </a:rPr>
              <a:t>Vt vs </a:t>
            </a:r>
            <a:r>
              <a:rPr lang="ru-RU" sz="2200" b="1" dirty="0">
                <a:solidFill>
                  <a:srgbClr val="1A2744"/>
                </a:solidFill>
                <a:latin typeface="Calibri"/>
              </a:rPr>
              <a:t>фонд</a:t>
            </a:r>
            <a:r>
              <a:rPr sz="2200" b="1" dirty="0">
                <a:solidFill>
                  <a:srgbClr val="1A2744"/>
                </a:solidFill>
                <a:latin typeface="Calibri"/>
              </a:rPr>
              <a:t>: </a:t>
            </a:r>
            <a:r>
              <a:rPr sz="2200" b="1" dirty="0" err="1">
                <a:solidFill>
                  <a:srgbClr val="1A2744"/>
                </a:solidFill>
                <a:latin typeface="Calibri"/>
              </a:rPr>
              <a:t>выживаемость</a:t>
            </a:r>
            <a:endParaRPr sz="2200" b="1" dirty="0">
              <a:solidFill>
                <a:srgbClr val="1A2744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114012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Разрыв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статистически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надёжен</a:t>
            </a:r>
            <a:r>
              <a:rPr sz="1400" dirty="0">
                <a:solidFill>
                  <a:srgbClr val="222222"/>
                </a:solidFill>
                <a:latin typeface="Calibri"/>
              </a:rPr>
              <a:t>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логранк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p &lt; 0.001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Средняя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Vt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ниже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глобальной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высокая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причина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отставания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Vt!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Главные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факторы</a:t>
            </a:r>
            <a:r>
              <a:rPr sz="1400" dirty="0">
                <a:solidFill>
                  <a:srgbClr val="222222"/>
                </a:solidFill>
                <a:latin typeface="Calibri"/>
              </a:rPr>
              <a:t>: H₂S-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среда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и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структура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отказов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(КЛ + ПЭД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переизбыток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 dirty="0">
                <a:solidFill>
                  <a:srgbClr val="B36A00"/>
                </a:solidFill>
                <a:latin typeface="Calibri"/>
              </a:rPr>
              <a:t>Vt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отстаёт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от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глобального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фонда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потому</a:t>
            </a:r>
            <a:r>
              <a:rPr lang="ru-RU" sz="1400" i="1" dirty="0">
                <a:solidFill>
                  <a:srgbClr val="B36A00"/>
                </a:solidFill>
                <a:latin typeface="Calibri"/>
              </a:rPr>
              <a:t>,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что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кислая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среда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подтачивает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изоляцию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ещё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до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любого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вопроса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о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частоте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8080437"/>
              </p:ext>
            </p:extLst>
          </p:nvPr>
        </p:nvGraphicFramePr>
        <p:xfrm>
          <a:off x="396000" y="2603280"/>
          <a:ext cx="114012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0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0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Метрика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Vt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Global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Точек данных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410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2 634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Доля отказов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67%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58%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+9 pp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Медиана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 </a:t>
                      </a:r>
                      <a:r>
                        <a:rPr lang="ru-RU"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ННО</a:t>
                      </a:r>
                      <a:endParaRPr sz="1100" b="0" dirty="0">
                        <a:solidFill>
                          <a:srgbClr val="222222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~150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~200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−50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Средняя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рабочая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частота</a:t>
                      </a:r>
                      <a:endParaRPr sz="1100" b="0" dirty="0">
                        <a:solidFill>
                          <a:srgbClr val="222222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45.4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Гц</a:t>
                      </a:r>
                      <a:endParaRPr sz="1100" b="0" dirty="0">
                        <a:solidFill>
                          <a:srgbClr val="222222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49.9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Гц</a:t>
                      </a:r>
                      <a:endParaRPr sz="1100" b="0" dirty="0">
                        <a:solidFill>
                          <a:srgbClr val="222222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Доля ранних отказов (90 дн.)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45%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35%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+10 pp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8000" y="900000"/>
            <a:ext cx="6083999" cy="5040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1A2744"/>
                </a:solidFill>
                <a:latin typeface="Calibri"/>
              </a:rPr>
              <a:t>V</a:t>
            </a:r>
            <a:r>
              <a:rPr sz="2200" b="1" dirty="0">
                <a:solidFill>
                  <a:srgbClr val="1A2744"/>
                </a:solidFill>
                <a:latin typeface="Calibri"/>
              </a:rPr>
              <a:t>t: H₂S </a:t>
            </a:r>
            <a:r>
              <a:rPr lang="ru-RU" sz="2200" b="1" dirty="0">
                <a:solidFill>
                  <a:srgbClr val="1A2744"/>
                </a:solidFill>
                <a:latin typeface="Calibri"/>
              </a:rPr>
              <a:t>и химеическая нагрузка</a:t>
            </a:r>
            <a:endParaRPr sz="2200" b="1" dirty="0">
              <a:solidFill>
                <a:srgbClr val="1A2744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5121144" cy="35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Механизм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влияния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H₂S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 dirty="0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H₂S +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температура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→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коррозия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изоляции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обмоток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ПЭД → β = 1.12 (wear-out,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нарастающий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риск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H₂S +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температура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→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коррозия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изоляции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КЛ → η = 91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дн</a:t>
            </a:r>
            <a:r>
              <a:rPr sz="1400" dirty="0">
                <a:solidFill>
                  <a:srgbClr val="222222"/>
                </a:solidFill>
                <a:latin typeface="Calibri"/>
              </a:rPr>
              <a:t>.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ранние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отказы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кабеля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Spearman ρ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между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H₂S и P(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ранний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отказ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): ρ = +0.20, p &lt; 0.001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ru-RU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ru-RU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ru-RU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ru-RU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ru-RU" sz="1400" b="1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i="1" dirty="0">
              <a:solidFill>
                <a:srgbClr val="B36A00"/>
              </a:solidFill>
              <a:latin typeface="Calibri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600986"/>
              </p:ext>
            </p:extLst>
          </p:nvPr>
        </p:nvGraphicFramePr>
        <p:xfrm>
          <a:off x="519825" y="2918190"/>
          <a:ext cx="5121144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2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2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2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2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Параметр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Vt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Global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Медиана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 H₂S (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мг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/л)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~0.05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×10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Доля кислых скважин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27%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7%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+20 pp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Медиана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 GLF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~326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~290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+12%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6437315"/>
              </p:ext>
            </p:extLst>
          </p:nvPr>
        </p:nvGraphicFramePr>
        <p:xfrm>
          <a:off x="6424613" y="2918190"/>
          <a:ext cx="5121144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7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7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7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Фактор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ρ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p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Кальций (кг/день)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+0.485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&lt; 1e-16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Хлориды (кг/день)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+0.476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&lt; 1e-15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Гипс-прокси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+0.445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&lt; 1e-12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H₂S (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мг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/л)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+0.204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0.001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Средняя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частота</a:t>
                      </a:r>
                      <a:endParaRPr sz="1100" b="0" dirty="0">
                        <a:solidFill>
                          <a:srgbClr val="222222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−0.127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0.038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D781BF9-7F76-048F-6AED-E07274C0636A}"/>
              </a:ext>
            </a:extLst>
          </p:cNvPr>
          <p:cNvSpPr txBox="1"/>
          <p:nvPr/>
        </p:nvSpPr>
        <p:spPr>
          <a:xfrm>
            <a:off x="6424613" y="817200"/>
            <a:ext cx="6143624" cy="8079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lang="ru-RU" sz="1600" b="1" dirty="0">
                <a:solidFill>
                  <a:srgbClr val="1F5C99"/>
                </a:solidFill>
                <a:latin typeface="Calibri"/>
              </a:rPr>
              <a:t>Химическая нагрузка (Spearman ρ с P(ранний отказ))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lang="ru-RU" sz="1400" i="1" dirty="0">
                <a:solidFill>
                  <a:srgbClr val="B36A00"/>
                </a:solidFill>
                <a:latin typeface="Calibri"/>
              </a:rPr>
              <a:t>Химия пласта — доминирующий предиктор ранних отказов. Частота входит в топ-5, но уступает химии в 3–4 раза.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Два определения высокой частоты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11401200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>
                <a:solidFill>
                  <a:srgbClr val="B36A00"/>
                </a:solidFill>
                <a:latin typeface="Calibri"/>
              </a:rPr>
              <a:t>Ответ на вопрос «опасна ли высокая частота» зависит от того, какой вопрос задаётся.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i="1">
              <a:solidFill>
                <a:srgbClr val="B36A00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i="1">
              <a:solidFill>
                <a:srgbClr val="B36A00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Физическое объяснение расхождения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Near-60 Гц (mean &gt;58) → скважины на пределе VFD: высокий дебит, частые пуски/остановки, ударные нагрузки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&gt;55 Гц большую часть → скважины со стабильной работой без cycling: меньше переходных процессов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>
                <a:solidFill>
                  <a:srgbClr val="B36A00"/>
                </a:solidFill>
                <a:latin typeface="Calibri"/>
              </a:rPr>
              <a:t>Cycling 30↔65 Гц опаснее, чем стабильные 60 Гц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96000" y="2163600"/>
          <a:ext cx="1140120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Параметр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Near-60 (mean &gt;58 Гц)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ВЧ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 (&gt;55 </a:t>
                      </a:r>
                      <a:r>
                        <a:rPr sz="11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Гц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, &gt;50% </a:t>
                      </a:r>
                      <a:r>
                        <a:rPr sz="11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вр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.)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Точек данных (Vt)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Медиана TTF_true HF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117 дн.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171 дн.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Медиана TTF_true базис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151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151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Разрыв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−34 дн.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+20 дн.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Cox HR (Vt, TTF_true)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1.34 [0.71–2.51]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p-value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0.36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~0.88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Ранние отказы 90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57% vs 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27% vs 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Главный риск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Засорение РО, ПЭД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Слом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вала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,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Засорение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 РО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Near-60 Гц: KM и ранние отказы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true60_km_v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711" y="817200"/>
            <a:ext cx="4467177" cy="3048192"/>
          </a:xfrm>
          <a:prstGeom prst="rect">
            <a:avLst/>
          </a:prstGeom>
        </p:spPr>
      </p:pic>
      <p:pic>
        <p:nvPicPr>
          <p:cNvPr id="5" name="Picture 4" descr="true60_threshold_early_share_ttf_tr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6661" y="817200"/>
            <a:ext cx="5158478" cy="30481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96000" y="3955392"/>
            <a:ext cx="11401200" cy="3216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Доля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ранних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отказов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(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от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всех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отказов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)</a:t>
            </a:r>
            <a:endParaRPr lang="ru-RU"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ru-RU"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ru-RU"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 dirty="0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near-60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Гц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в Vt 57%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всех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насосов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отказывают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3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месяцев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Это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«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те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же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отказы</a:t>
            </a:r>
            <a:r>
              <a:rPr sz="1400" dirty="0">
                <a:solidFill>
                  <a:srgbClr val="222222"/>
                </a:solidFill>
                <a:latin typeface="Calibri"/>
              </a:rPr>
              <a:t>,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чуть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раньше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»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меняется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профиль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категорий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 dirty="0" err="1">
                <a:solidFill>
                  <a:srgbClr val="B36A00"/>
                </a:solidFill>
                <a:latin typeface="Calibri"/>
              </a:rPr>
              <a:t>Главный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практический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риск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near-60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Гц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в Vt —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не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сокращение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среднего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ресурса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30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дней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, а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то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,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что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каждый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второй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насос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не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доживает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до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3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месяцев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i="1" dirty="0">
              <a:solidFill>
                <a:srgbClr val="B36A00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i="1" dirty="0">
              <a:solidFill>
                <a:srgbClr val="B36A00"/>
              </a:solidFill>
              <a:latin typeface="Calibri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9692443"/>
              </p:ext>
            </p:extLst>
          </p:nvPr>
        </p:nvGraphicFramePr>
        <p:xfrm>
          <a:off x="396000" y="4365042"/>
          <a:ext cx="11401194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87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87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87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87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87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287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2874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Горизонт</a:t>
                      </a:r>
                      <a:endParaRPr sz="11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Базис Vt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Near-60 Vt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Базис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lang="ru-RU"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Фонд</a:t>
                      </a:r>
                      <a:endParaRPr sz="11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Near-60 </a:t>
                      </a:r>
                      <a:r>
                        <a:rPr lang="ru-RU"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Фонд</a:t>
                      </a:r>
                      <a:endParaRPr sz="11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30 дней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+4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+7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60 дней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23%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29%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+6 pp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21%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27%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+6 pp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90 дней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57%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+23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+10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B514260-9DCF-9B4E-BE06-0F1B61EC5488}"/>
              </a:ext>
            </a:extLst>
          </p:cNvPr>
          <p:cNvSpPr txBox="1"/>
          <p:nvPr/>
        </p:nvSpPr>
        <p:spPr>
          <a:xfrm flipH="1">
            <a:off x="1597224" y="3703760"/>
            <a:ext cx="3334478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ННО, дни</a:t>
            </a:r>
            <a:endParaRPr 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728692-E3B0-9E68-7811-73F83AD37F02}"/>
              </a:ext>
            </a:extLst>
          </p:cNvPr>
          <p:cNvSpPr txBox="1"/>
          <p:nvPr/>
        </p:nvSpPr>
        <p:spPr>
          <a:xfrm rot="16200000" flipH="1">
            <a:off x="-368572" y="2226740"/>
            <a:ext cx="2593913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Выживаемость</a:t>
            </a:r>
            <a:endParaRPr 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DD3829-4811-AF05-672B-3D7B1B35138C}"/>
              </a:ext>
            </a:extLst>
          </p:cNvPr>
          <p:cNvSpPr txBox="1"/>
          <p:nvPr/>
        </p:nvSpPr>
        <p:spPr>
          <a:xfrm rot="16200000" flipH="1">
            <a:off x="5207804" y="2135653"/>
            <a:ext cx="2593913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Доля ранних отказов</a:t>
            </a:r>
            <a:endParaRPr 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FB7EDC-1F46-BB40-9B93-349ECF084773}"/>
              </a:ext>
            </a:extLst>
          </p:cNvPr>
          <p:cNvSpPr txBox="1"/>
          <p:nvPr/>
        </p:nvSpPr>
        <p:spPr>
          <a:xfrm flipH="1">
            <a:off x="7540824" y="3648060"/>
            <a:ext cx="3334478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Горизонт наработки, дни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Стабильность режима: cycling vs стабильная работа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5121144" cy="5970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Гипотеза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: near-60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Гц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≠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стабильная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60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Гц</a:t>
            </a:r>
            <a:endParaRPr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 dirty="0" err="1">
                <a:solidFill>
                  <a:srgbClr val="222222"/>
                </a:solidFill>
                <a:latin typeface="Calibri"/>
              </a:rPr>
              <a:t>Скважины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с mean &gt;58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Гц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могут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работать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в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режиме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cycling (30↔65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Гц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):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ВЧ-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преобразователь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разгоняется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максимума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→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насос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перегружается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→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останавливается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Каждый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пуск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→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ударная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нагрузка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вал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и ПЭД →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ранние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отказы</a:t>
            </a:r>
            <a:endParaRPr lang="ru-RU"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endParaRPr lang="ru-RU"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endParaRPr lang="ru-RU"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endParaRPr lang="ru-RU"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Эмпирическая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проверка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по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телеметрии</a:t>
            </a:r>
            <a:endParaRPr sz="1600" b="1" dirty="0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endParaRPr lang="ru-RU"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Скважины</a:t>
            </a:r>
            <a:r>
              <a:rPr sz="1400" dirty="0">
                <a:solidFill>
                  <a:srgbClr val="222222"/>
                </a:solidFill>
                <a:latin typeface="Calibri"/>
              </a:rPr>
              <a:t>,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стабильно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работающие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60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Гц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</a:t>
            </a:r>
            <a:r>
              <a:rPr lang="ru-RU" sz="1400" dirty="0">
                <a:solidFill>
                  <a:srgbClr val="222222"/>
                </a:solidFill>
                <a:latin typeface="Calibri"/>
              </a:rPr>
              <a:t>в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широк</a:t>
            </a:r>
            <a:r>
              <a:rPr lang="ru-RU" sz="1400" dirty="0">
                <a:solidFill>
                  <a:srgbClr val="222222"/>
                </a:solidFill>
                <a:latin typeface="Calibri"/>
              </a:rPr>
              <a:t>ом смысле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),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дают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нейтральный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HR=0.96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Скважины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с cycling (near-60)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дают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HR=1.34 и 57%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ранних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отказов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 dirty="0" err="1">
                <a:solidFill>
                  <a:srgbClr val="B36A00"/>
                </a:solidFill>
                <a:latin typeface="Calibri"/>
              </a:rPr>
              <a:t>Рекомендация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: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Медленный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разгон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VFD (≥30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сек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от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0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до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60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Гц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).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Минимизировать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число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пусков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/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остановок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.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Стабильный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режим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при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60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Гц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—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нейтрален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по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данным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i="1" dirty="0">
              <a:solidFill>
                <a:srgbClr val="B36A00"/>
              </a:solidFill>
              <a:latin typeface="Calibri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0794052"/>
              </p:ext>
            </p:extLst>
          </p:nvPr>
        </p:nvGraphicFramePr>
        <p:xfrm>
          <a:off x="396000" y="2896277"/>
          <a:ext cx="5121144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7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7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7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Метрика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Near-60 (n≈24)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Базис 50–55 Гц (n≈92)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Доля дней &lt;45 Гц от валидных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Выше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Ниже (стабильный режим)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Пропуски телеметрии (остановки)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Больше</a:t>
                      </a:r>
                      <a:endParaRPr sz="1100" b="0" dirty="0">
                        <a:solidFill>
                          <a:srgbClr val="222222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Меньше</a:t>
                      </a:r>
                      <a:endParaRPr sz="1100" b="0" dirty="0">
                        <a:solidFill>
                          <a:srgbClr val="222222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" name="Picture 5" descr="cycling_near60_vs_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7144" y="2101771"/>
            <a:ext cx="6100056" cy="307565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Что убивает в Vt: выживаемость по категориям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5121144" cy="2900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>
                <a:solidFill>
                  <a:srgbClr val="1F5C99"/>
                </a:solidFill>
                <a:latin typeface="Calibri"/>
              </a:rPr>
              <a:t>Weibull-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параметры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по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категориям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в Vt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ПЭД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единственный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компонент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с β &gt; 1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всём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датасете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(и в Vt, и в </a:t>
            </a:r>
            <a:r>
              <a:rPr lang="ru-RU" sz="1400" dirty="0">
                <a:solidFill>
                  <a:srgbClr val="222222"/>
                </a:solidFill>
                <a:latin typeface="Calibri"/>
              </a:rPr>
              <a:t>фонде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КЛ с η=91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дн</a:t>
            </a:r>
            <a:r>
              <a:rPr sz="1400" dirty="0">
                <a:solidFill>
                  <a:srgbClr val="222222"/>
                </a:solidFill>
                <a:latin typeface="Calibri"/>
              </a:rPr>
              <a:t>.: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половина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всех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кабельных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отказов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3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месяцев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Все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прочие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категории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: β &lt; 1,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значит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риск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снижается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временем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 dirty="0" err="1">
                <a:solidFill>
                  <a:srgbClr val="B36A00"/>
                </a:solidFill>
                <a:latin typeface="Calibri"/>
              </a:rPr>
              <a:t>Насос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,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переживший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первые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90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дней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в Vt,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значительно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снижает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риск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отказа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КЛ и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вала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.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Но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риск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ПЭД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продолжает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нарастать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—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накопленная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деградация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изоляции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в H₂S-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среде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i="1" dirty="0">
              <a:solidFill>
                <a:srgbClr val="B36A00"/>
              </a:solidFill>
              <a:latin typeface="Calibri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2068692"/>
              </p:ext>
            </p:extLst>
          </p:nvPr>
        </p:nvGraphicFramePr>
        <p:xfrm>
          <a:off x="324078" y="3429000"/>
          <a:ext cx="5448070" cy="3230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96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96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96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48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44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451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Категория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β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η (дн.)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Паттерн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Вывод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9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ПЭД (R-0)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1.12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Wear-out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Риск нарастает — деградация изоляции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28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КЛ (R-0)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0.73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91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Сильная «детская смертность»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Большинство отказов до 3 мес.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67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Слом вала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&lt;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«Детская смертность»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Дефекты монтажа, пусковые нагрузки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19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Засорение РО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&lt; 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«Детская смертность»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Приходит рано при высоком дебите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3899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НКТ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&lt;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«Детская смертность»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6" name="Picture 5" descr="km_failure_categories_v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7144" y="1809583"/>
            <a:ext cx="6100056" cy="36600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4AB2BB2-2A93-B619-31DE-768AA435D196}"/>
              </a:ext>
            </a:extLst>
          </p:cNvPr>
          <p:cNvSpPr txBox="1"/>
          <p:nvPr/>
        </p:nvSpPr>
        <p:spPr>
          <a:xfrm flipH="1">
            <a:off x="7340799" y="5201451"/>
            <a:ext cx="3334478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ННО, дни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Иерархия рисков при работе на 60 Гц в Vt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11401200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Уровень 1 — Высокий риск (действовать до перевода на 60 Гц)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Засорение рабочих органов (РО) — +22 pp переизбыток при near-60 Гц (35% vs 13%)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Проверить КВЧ и мехпримеси перед пуском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Газосепаратор или входной фильтр обязательны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Промывки в первые 90 дней по регламенту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ПЭД (электродвигатель) — β=1.12 wear-out; +9 pp при near-60 Гц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ПЭД с явным допуском для 60 Гц и H₂S-среды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Контроль сопротивления изоляции при каждом подъёме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Уровень 2 — Повышенный мониторинг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КЛ (кабель) — #1 причина в Vt (25%), η=91 дн.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Класс изоляции для максимального тока на 60 Гц при температуре Vt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Слом вала — +9 pp при ВЧ-дефиниции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Медленный разгон VFD (не менее 30 сек от 0 до 60 Гц)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Избегать прямого пуска на высокой частоте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Уровень 3 — Стандартный контроль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НКТ, Гидрозащита, Износ РО — явной частотной чувствительности в данных нет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Выводы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11401200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>
                <a:solidFill>
                  <a:srgbClr val="1F5C99"/>
                </a:solidFill>
                <a:latin typeface="Calibri"/>
              </a:rPr>
              <a:t>А. Near-60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Гц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(mean &gt;58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Гц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) в Vt: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осторожный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неблагоприятный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сигнал</a:t>
            </a:r>
            <a:endParaRPr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1. TTF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сокращается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~30–35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дней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медиана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,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best_available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и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TTF_true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2. Cox HR = 1.34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значим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из-за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малой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выборки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(n=24),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стабильно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&gt; 1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всем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осям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3. 57% vs 34%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ранних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отказов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90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дн</a:t>
            </a:r>
            <a:r>
              <a:rPr sz="1400" dirty="0">
                <a:solidFill>
                  <a:srgbClr val="222222"/>
                </a:solidFill>
                <a:latin typeface="Calibri"/>
              </a:rPr>
              <a:t>.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наиболее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практически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значимый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сигнал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4. H₂S в near-60 Vt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ниже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,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чем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в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остальном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Vt →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конфаундинг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исключён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5. Near-60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повышает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риск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всем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категориям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равномерно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(HR 1.06–1.36)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>
                <a:solidFill>
                  <a:srgbClr val="1F5C99"/>
                </a:solidFill>
                <a:latin typeface="Calibri"/>
              </a:rPr>
              <a:t>Б.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ВЧ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(&gt;55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Гц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, &gt;50%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вр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.) —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нейтральный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результат</a:t>
            </a:r>
            <a:endParaRPr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1. HR = 0.96,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медиана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TTF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даже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+20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дней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длиннее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базиса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2.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Ранних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отказов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меньше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(27% vs 34%)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3. Cycling (near-60)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источник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риска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;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стабильная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работа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60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Гц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нейтральна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>
                <a:solidFill>
                  <a:srgbClr val="1F5C99"/>
                </a:solidFill>
                <a:latin typeface="Calibri"/>
              </a:rPr>
              <a:t>В.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Независимо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от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определения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частоты</a:t>
            </a:r>
            <a:endParaRPr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1. H₂S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сильнее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и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стабильнее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,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чем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(Spearman ρ: H₂S &gt;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freq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везде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2.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Фиксированного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TRF-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бюджета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существует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(4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независимых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теста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, KW p=0.0001)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3. ПЭД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единственный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wear-out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компонент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(β=1.12)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риск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нарастает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временем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4. КЛ — #1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причина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ранних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отказов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в Vt (CIF@90дн. = 10%)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Рекомендации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11401200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1. Проверить рейтинги оборудования до перевода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ПЭД: явный допуск для 60 Гц и концентрации H₂S в Vt; тепловая характеристика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КЛ: класс изоляции для максимального непрерывного тока на 60 Гц при рабочей температуре Vt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2. Организовать пилотный эксперимент (n слишком мал)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5–10 скважин на 60 Гц vs контрольная группа на 50–55 Гц с сопоставимой средой (низкий H₂S)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Инструментирование: ток ПЭД, температура ПЭД, сопротивление изоляции, перепад давления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Отслеживать отказы на горизонте 30/60/90 дней с фиксацией категории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3. Отбор скважин для пилота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Приоритет: H₂S &lt; 0.1 мг/л, хорошее состояние обсадной колонны, ПЭД с допуском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Низкий КВЧ и отсутствие истории засорений РО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Не начинать с самых агрессивных скважин по среде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4. Стабильный режим — не cycling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Медленный разгон VFD обязателен (≥ 30 сек от 0 до 60 Гц)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Минимизировать число пусков/остановок при высокой частоте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Стабильная работа при 60 Гц нейтральна; cycling опасен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5. Мониторинг в первые 90 дней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57% near-60 рисков — в первые 90 дней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Контроль: ток ПЭД, температура, R-изоляции, перепад давления на НКТ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Засорение РО: мониторить перепад давления с первой недели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8BB9B-90BD-C772-68A3-A13158CA4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Supplementary slides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AD4101-774D-3575-4DA3-3A99DD05DF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34484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125999"/>
            <a:ext cx="114732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2744"/>
                </a:solidFill>
                <a:latin typeface="Calibri"/>
              </a:rPr>
              <a:t>Слайд 2 — Латентная Weibull-модель: смесь скрытых классов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02000"/>
            <a:ext cx="12193200" cy="288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6000" y="864000"/>
            <a:ext cx="432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5C99"/>
                </a:solidFill>
                <a:latin typeface="Calibri"/>
              </a:rPr>
              <a:t>Идея модели</a:t>
            </a: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Одна наблюдаемая популяция может состоять из нескольких скрытых подгрупп с разной надёжностью.</a:t>
            </a: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Смесь выживаемости: S(t) = π·S1(t) + (1-π)·S2(t).</a:t>
            </a: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π — доля short-life класса; у каждого класса свои β_k и η_k.</a:t>
            </a: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Модель удобна, когда часть фонда умирает рано, а другая часть имеет нормальный ресурс.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6000" y="3816000"/>
            <a:ext cx="4320000" cy="24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5C99"/>
                </a:solidFill>
                <a:latin typeface="Calibri"/>
              </a:rPr>
              <a:t>Как читать параметры</a:t>
            </a: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π = 0.35: доля скрытого класса ранних отказов.</a:t>
            </a: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Класс 1: β1 = 0.85, η1 = 120 д.</a:t>
            </a: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Класс 2: β2 = 1.90, η2 = 420 д.</a:t>
            </a: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B50 смеси = 251 д, E[T] смеси = 288 д.</a:t>
            </a: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P(ранний класс | отказ на 90 дн.) = 0.63.</a:t>
            </a:r>
          </a:p>
        </p:txBody>
      </p:sp>
      <p:pic>
        <p:nvPicPr>
          <p:cNvPr id="6" name="Picture 5" descr="weibull_latent_curve_r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000" y="900000"/>
            <a:ext cx="6552000" cy="4824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40000" y="5832000"/>
            <a:ext cx="6552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B36A00"/>
                </a:solidFill>
                <a:latin typeface="Calibri"/>
              </a:rPr>
              <a:t>Иллюстративный пример: смесь short-life и normal-life классов. Общая кривая может быть изогнутой сильнее, чем у одной Weibull-модели.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Глобальный фонд: латентная смесь Вейбулла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5121144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Два режима отказа (K=2 компоненты)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Смесевые квантили жизни (Фонд)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Vt: B50 = 145 дн. — самый низкий из всех полей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Ya: сильная бимодальность (B10=23 дн., B90=1 061 дн.) — два хорошо разделённых режима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>
                <a:solidFill>
                  <a:srgbClr val="B36A00"/>
                </a:solidFill>
                <a:latin typeface="Calibri"/>
              </a:rPr>
              <a:t>Ya показывает типичный «двойной» жизненный цикл: отдельный ранний хвост и долгоживущая основная популяция. В Vt два режима менее разделены.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i="1">
              <a:solidFill>
                <a:srgbClr val="B36A00"/>
              </a:solidFill>
              <a:latin typeface="Calibri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96000" y="2163600"/>
          <a:ext cx="5121140" cy="195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42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42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42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42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42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Компонент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Вес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η (дней)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β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Интерпретация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 — ранний/случайный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0.446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0.870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Химические события, дефекты монтажа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 — накопленный износ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0.554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519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1.151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Нормальная усталость и механический износ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96000" y="2973600"/>
          <a:ext cx="5121144" cy="129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2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2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2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2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Квантиль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Global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Vt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Ya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B10 (10% умрут к)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25.5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19.5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23.3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B25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83.8 дн.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57.3 дн.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83.6 дн.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B50 (медиана)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238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145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263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B90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950 дн.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488 дн.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1 061 дн.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7" name="Picture 6" descr="m2_global_survi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7144" y="2486771"/>
            <a:ext cx="6100056" cy="2305657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Vt: латентный анализ и анализ частоты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5121144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Байесовская смесь Вейбулла (K=2) для Vt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B10 = 19.5 дн., B50 = 145 дн., B90 = 488 дн.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Два компонента в Vt менее разделены, чем в Ya — Vt = «смешанная» популяция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Анализ частоты (Vt, n=238 с телеметрией)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Нет статистически значимого эффекта частоты (p &gt; 0.05 по всем тестам)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Точечные оценки: high-freq живут дольше — вероятно, эффект отбора (лучшие скважины)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Spearman ρ(freq, P_short) = +0.029, p=0.66 — нет связи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>
                <a:solidFill>
                  <a:srgbClr val="B36A00"/>
                </a:solidFill>
                <a:latin typeface="Calibri"/>
              </a:rPr>
              <a:t>В ВЧ-определении (&gt;55 Гц большую часть) — Vt не показывает вреда высокой частоты.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i="1">
              <a:solidFill>
                <a:srgbClr val="B36A00"/>
              </a:solidFill>
              <a:latin typeface="Calibri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96000" y="2833200"/>
          <a:ext cx="5121140" cy="195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42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42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42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42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42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Компонент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Вес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η (дней)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β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Интерпретация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 — ранний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0.393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0.967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Примерно постоянный риск (химия, монтаж)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 — износ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0.607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282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1.334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Нарастающий риск (накопленная деградация)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96000" y="3643200"/>
          <a:ext cx="5121144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2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2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2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2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Группа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Медиана TTF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Логранк p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High-freq (mean &gt;55 Гц)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171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Low-freq (mean ≤55 Гц)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212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149 дн.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7" name="Picture 6" descr="m2_vt_survi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7144" y="2486771"/>
            <a:ext cx="6100056" cy="2305657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Weibull AFT: модель ускоренного отказа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11401200" cy="3762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Принцип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AFT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 dirty="0" err="1">
                <a:solidFill>
                  <a:srgbClr val="222222"/>
                </a:solidFill>
                <a:latin typeface="Calibri"/>
              </a:rPr>
              <a:t>Время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отказа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в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группе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с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повышенной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частотой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: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T_HF = T_</a:t>
            </a:r>
            <a:r>
              <a:rPr lang="ru-RU" sz="1400" dirty="0">
                <a:solidFill>
                  <a:srgbClr val="222222"/>
                </a:solidFill>
                <a:latin typeface="Calibri"/>
              </a:rPr>
              <a:t>базис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× exp(β × ln(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freq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β = −0.17 →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росте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частоты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20% (50→60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Гц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): T_HF =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T_base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× 1.2^(−0.17) ≈ 0.97 ×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T_base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Сокращение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lang="ru-RU" sz="1400" dirty="0">
                <a:solidFill>
                  <a:srgbClr val="222222"/>
                </a:solidFill>
                <a:latin typeface="Calibri"/>
              </a:rPr>
              <a:t>ННО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примерно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3%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«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чистой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»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частотной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нагрузки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Наблюдаемое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сокращение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(30–35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дней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/ 150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дней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 ≈ 20–23% →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остальное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объясняется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другими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факторами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Что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объясняет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разрыв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?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 dirty="0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 dirty="0">
                <a:solidFill>
                  <a:srgbClr val="B36A00"/>
                </a:solidFill>
                <a:latin typeface="Calibri"/>
              </a:rPr>
              <a:t>AFT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подтверждает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: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частота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—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общий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ускоритель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деградации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, а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не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специфический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триггер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одного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механизма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3157000"/>
              </p:ext>
            </p:extLst>
          </p:nvPr>
        </p:nvGraphicFramePr>
        <p:xfrm>
          <a:off x="396000" y="4703054"/>
          <a:ext cx="11401200" cy="129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0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0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Компонент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Вклад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Чистый частотный эффект (AFT)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~3–5%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Ускорение накопления TRF (60 Hz = быстрее по времени)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~15%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H₂S + GLF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среда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 (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конфаундинг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исключён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 в near-60 Vt (H₂S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ниже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!)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Специфика near-60 скважин (cycling, пусковые нагрузки)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~10–15% (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гипотеза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Ранние отказы: структура по AJ CIF (Конкурирующие риски)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5121144" cy="4739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Кумулятивная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вероятность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отказа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по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причинам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(Vt) — 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К 90-му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дню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10%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насосов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Vt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отказывают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неисправности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кабеля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максимальная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ранняя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угроза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К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году</a:t>
            </a:r>
            <a:r>
              <a:rPr sz="1400" dirty="0">
                <a:solidFill>
                  <a:srgbClr val="222222"/>
                </a:solidFill>
                <a:latin typeface="Calibri"/>
              </a:rPr>
              <a:t>: КЛ + ПЭД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вместе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дают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~38%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накопленной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вероятности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отказа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ПЭД «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дотягивает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»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медленнее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(wear-out β=1.12)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продолжает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накапливаться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после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90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дней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ru-RU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ru-RU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ru-RU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ru-RU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ru-RU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>
                <a:solidFill>
                  <a:srgbClr val="1F5C99"/>
                </a:solidFill>
                <a:latin typeface="Calibri"/>
              </a:rPr>
              <a:t>Near-60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Гц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: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причинно-специфический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HR (Фонд, n=130+ near-60)</a:t>
            </a:r>
            <a:endParaRPr lang="ru-RU"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 i="1" dirty="0">
                <a:solidFill>
                  <a:srgbClr val="B36A00"/>
                </a:solidFill>
                <a:latin typeface="Calibri"/>
              </a:rPr>
              <a:t>Near-60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Гц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повышает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риск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равномерно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по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всем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категориям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(HR 1.06–1.36) —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это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общий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ускоритель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, а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не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специфический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триггер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i="1" dirty="0">
              <a:solidFill>
                <a:srgbClr val="B36A00"/>
              </a:solidFill>
              <a:latin typeface="Calibri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6266383"/>
              </p:ext>
            </p:extLst>
          </p:nvPr>
        </p:nvGraphicFramePr>
        <p:xfrm>
          <a:off x="396000" y="5076106"/>
          <a:ext cx="5121144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2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2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2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2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Причина отказа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CIF @ 90 дн.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CIF @ 180 дн.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CIF @ 365 дн.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КЛ (кабель)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0.099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0.153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0.203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Слом вала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0.078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0.107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0.131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Засорение РО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0.073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0.095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0.118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ПЭД (двигатель)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0.064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0.118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0.172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НКТ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0.049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0.055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0.058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4875762"/>
              </p:ext>
            </p:extLst>
          </p:nvPr>
        </p:nvGraphicFramePr>
        <p:xfrm>
          <a:off x="396000" y="2539379"/>
          <a:ext cx="5121144" cy="129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2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2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2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2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Причина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HR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95% CI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Слом вала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1.36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[0.94–1.95]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0.099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ПЭД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1.29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[0.91–1.82]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0.156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КЛ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[0.90–1.74]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0.182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Засорение РО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1.06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[0.70–1.59]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0.783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7" name="Picture 6" descr="aj_cif_v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7144" y="1826459"/>
            <a:ext cx="6100056" cy="362628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5464</Words>
  <Application>Microsoft Office PowerPoint</Application>
  <PresentationFormat>Custom</PresentationFormat>
  <Paragraphs>1035</Paragraphs>
  <Slides>41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Aptos</vt:lpstr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Supplementary slides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Artem Alexeev</dc:creator>
  <cp:keywords/>
  <dc:description>generated using python-pptx</dc:description>
  <cp:lastModifiedBy>Artem Alexeev</cp:lastModifiedBy>
  <cp:revision>3</cp:revision>
  <dcterms:created xsi:type="dcterms:W3CDTF">2013-01-27T09:14:16Z</dcterms:created>
  <dcterms:modified xsi:type="dcterms:W3CDTF">2026-06-24T08:41:14Z</dcterms:modified>
  <cp:category/>
</cp:coreProperties>
</file>