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Effect of ESP operating regime on failure rate. Analysis for Vt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ESP operating-life model · dependence on regime and contractor · v3.1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TTF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time to failure / operating life: how long a pump runs before it fails (days).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Median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age by which half the pumps have failed.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Full mean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(in statistics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MRL — Mean Residual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 — the mean time to failure in full, including the whole tail.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Mean life over a horizon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(in statistics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RMST — Restricted Mean Survival Time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 — how long a pump works on average over a fixed near-term window (e.g. 730 days), without looking into the far tail.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liquid rate;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Kpod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pump loading (fraction of nominal);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GLF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gas-liquid factor.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Contractors: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brt / slb / other (oth).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 —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Question: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how does pump operating life (TTF) on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Vt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field depend on the operating regime — liquid rate (Ql), frequency, loading (Kpod), gas (GLF) — and what formula should the life forecast use?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Data: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empirical survival curves across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6 groups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(H₂S class: sour / nonsour × contractor brt / slb / other). ~530 nonsour + ~136 sour runs in total.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Headline: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Liquid rate is the only operating factor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that matters for nonsour: higher rate — shorter life. Frequency and Kpod reflect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the same rate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(pump affinity law).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Sour wells are a separate world: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~3–4× shorter life, and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the regime does not affect it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— H₂S corrosion drives everything.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Gas (GLF) — no effect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, excluded.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The 2× brt/slb difference is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mostly rate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(slb runs at higher rates); a small unexplained residual reproduces on another field — kept as an empirical adjustment.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Part I. Results: model, parameters and calculation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 — Final life-forecast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Meaning: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a group baseline life, adjusted for rate and for the contractor. The model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log-linear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life is multiplied by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exp(coefficient ×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where Δ is the parameter's deviation from its reference value (for rate — on the log scale).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8482705" cy="630936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Life(well) = η_ref · contractor_mult · exp( γ · Δ ),   Δ = ln( clip(Ql, 47, 823) ) − ln(250)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    clip = winsorize Ql to the bounds 47–823: below 47 or above 823 the adjustment is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           held at the boundary and grows no further (no extrapolation)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386584"/>
          <a:ext cx="11002693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1217295"/>
                <a:gridCol w="2621866"/>
                <a:gridCol w="777240"/>
                <a:gridCol w="842742"/>
                <a:gridCol w="2434590"/>
                <a:gridCol w="77724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curve shape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characteristic life η_ref,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Ql_ref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Ql bounds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coefficient γ (per Δln Ql)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47–823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−0.305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×0.79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73–779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≈0 (no effect)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42900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brt is the reference contractor, its multiplier = 1.00 (the others are relative to brt).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70332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Reference value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point where the adjustment = 1 (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exp(0)=1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);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η_ref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is the baseline life at Ql = reference and contractor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brt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exp(γ·Δ)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is equivalent to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(Ql/ref)^γ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Curve shape β ≈ 1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means: failure risk hardly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grows with age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(not "wear-out").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Relationships are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observational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(not an experiment). For sour the rate coefficient ≈0 → in practice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life = η_ref · contractor multiplier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(converted to the median).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 — Coefficients: all three parameters (log-linear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Life is multiplied by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where Δ is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parameter's deviation from its reference value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(for rate — on the log scale). Coefficients γ (nonsour, from the data; significant in bold):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589787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634"/>
                <a:gridCol w="1126561"/>
                <a:gridCol w="1192829"/>
                <a:gridCol w="1060293"/>
                <a:gridCol w="1126561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known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Ql (per Δln Ql)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frequency (1/Hz)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Kpod (per 1.0)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+ frequency + Kpod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−0.130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−0.0142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all three (split)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+ Kpod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−0.597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two parameters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+ frequency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−0.0161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two parameters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frequency + Kpod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−0.0171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−0.812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two parameters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Ql only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−0.240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one (fallback)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frequency only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−0.0222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one (fallback)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Kpod only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one (fallback)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87705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Reference values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(where all adjustments = 1):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 250 m³/d, frequency 50 Hz, Kpod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baseline life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η_ref = 570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(brt). Contractor: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brt = 1.00 (reference), slb ≈0.73, other ≈0.64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Applicability range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(q05–q95, do not extrapolate beyond):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 47–823, frequency 31–56 Hz, Kpod 0.2–1.2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553712"/>
            <a:ext cx="10314614" cy="28346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Life = η_ref · contractor · exp( γ_Ql·(ln clip(Ql,47,823) − ln 250) + γ_freq·(freq − 50) + γ_Kpod·(Kpod − 0.70)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2861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How to apply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for each known parameter compute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20293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frequency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55 Hz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+5 from 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exp(−0.0142·5)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×0.93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(−7 %);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Kpod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+0.20 from 0.70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exp(−0.729·0.20)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Ql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vs 250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exp(−0.130·ln(400/250))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9788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Then multiply the adjustments of the known parameters × contractor × η_ref (drop missing ones, do not impute).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For sour all γ ≈ 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contractor only. Median / life — slide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 —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Well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nonsour, contractor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Ql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m³/d, frequency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Hz, Kpod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All three known → the "all three" set (β=1.28, η_ref=570; references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250 m³/d / 50 Hz /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):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8657173" cy="115214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Ql       = ln(400/250) = +0.470  → contribution = −0.130·0.470 = −0.061  (400 within 47–823)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frequency = 52 − 50     = +2 Hz   → contribution     = −0.0142·2     = −0.028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Kpod     = 0.90 − 0.70 = +0.20   → contribution     = −0.729·0.20   = −0.146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sum of contributions = −0.235      → exp(−0.235)                     = 0.790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contractor multiplier (slb)                                          = 0.728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characteristic life η = 570 · 0.790 · 0.728                          = 328 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706624"/>
          <a:ext cx="4528877" cy="1298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7216"/>
                <a:gridCol w="2124421"/>
                <a:gridCol w="777240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half the pumps have failed by this age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247 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Full mean life (MRL)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mean time to failure in full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304 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Mean life over 2 years (RMST, 730 d)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how long it runs on average over the next 730 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292 d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22452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If only Ql is known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the baseline formula (β=1.15, η_ref=571, Ql reference 250): multiplier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0.79 · exp(−0.305·ln(400/250)) = 0.686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η=392 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Median 285 / mean life 373 / 2-year life 335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(Fewer parameters used — a more conservative estimate, so the life comes out longer.)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0118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This calculation ports 1:1 to Excel: the parameters (η, β, references, adjustments, contractor) on a separate sheet, functions compute the four quantities. (The Excel workbook is a separate task.)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 — Which quantity to report as TTF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The same forecast can be expressed three ways: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Median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age by which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half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pumps have failed. Simple, but only speaks to the "middle" and ignores the spread.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Full mean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(MRL) —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time to failure in full. An honest mean, but it partly relies on the far "tail", which the data observe only weakly.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Mean life over a horizon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(RMST over 730 d) — how long a pump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runs on average over the next 2 years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It invents nothing beyond the data and is always computable.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Recommendation: report "mean life over 2 years" (RMST) as the primary quantity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with "full mean life" beside it, and the median for reference only. Values by group: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035808"/>
          <a:ext cx="691873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1023582"/>
                <a:gridCol w="1023582"/>
                <a:gridCol w="921223"/>
                <a:gridCol w="1740089"/>
                <a:gridCol w="1433014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contractor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multiplier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Median,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Full mean life,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2-year life,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nonsour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278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sour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17550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For nonsour "full mean life" is noticeably larger than "2-year life" — because some pumps live longer than 2 years (long tail). For sour the lives are short, both quantities coincide. The remaining life of a running pump is measured from its </a:t>
            </a:r>
            <a:r>
              <a:rPr sz="1050" i="1">
                <a:solidFill>
                  <a:srgbClr val="666666"/>
                </a:solidFill>
                <a:latin typeface="Calibri"/>
              </a:rPr>
              <a:t>current age</a:t>
            </a:r>
            <a:r>
              <a:rPr sz="1050" i="1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 — Limitations (what to keep in mind)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Ql sets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overall trend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but it predicts the life of a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single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pump weakly — the model is good for planning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by group / fleet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for the exact date of one pump.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contractor multiplier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observational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the cause is only partly understood (about a third of the difference is runs cut short by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planned workovers (GTM)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failures).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All relationships are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observational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from an experiment.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Frequency and Kpod are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in the TM-06 plan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shown for understanding; the forecast is computed from Ql.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For sour the regime has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effect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do not add regime adjustments without new H₂S data.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Deprecated: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previously deployed "penalty for high Kpod loading"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supported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by this analysis (see slide 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Part II. Analysis — model justification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 — Groups and overall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Empirical survival curves (share of running pumps over time, from the data) across the 6 groups + the fitted model overlay: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609689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0315"/>
                <a:gridCol w="777240"/>
                <a:gridCol w="925157"/>
                <a:gridCol w="809512"/>
                <a:gridCol w="1734670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failures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shape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model median,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Vt_nonsour_brt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Vt_nonsour_slb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Vt_nonsour_other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Vt_sour_brt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Vt_sour_slb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Vt_sour_other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60273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The model sits </a:t>
            </a:r>
            <a:r>
              <a:rPr sz="1050" i="1">
                <a:solidFill>
                  <a:srgbClr val="666666"/>
                </a:solidFill>
                <a:latin typeface="Calibri"/>
              </a:rPr>
              <a:t>inside the confidence band</a:t>
            </a:r>
            <a:r>
              <a:rPr sz="1050" i="1">
                <a:solidFill>
                  <a:srgbClr val="666666"/>
                </a:solidFill>
                <a:latin typeface="Calibri"/>
              </a:rPr>
              <a:t> of each group. Full parameters (characteristic life, reference Ql, bounds, adjustments, fallbacks) — slides 2–3.</a:t>
            </a:r>
          </a:p>
        </p:txBody>
      </p:sp>
      <p:pic>
        <p:nvPicPr>
          <p:cNvPr id="6" name="Picture 5" descr="km_v31_per_stra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206240"/>
            <a:ext cx="4319818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 — Nonsour wells: life and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(top row of the figure, slide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Nonsour lives long and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rate-driven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model median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436 / 320 / 236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other);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shape β ≈ 1.15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failure risk hardly grows with age.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model (Ql + contractor)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reproduces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each contractor's empirical curve.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brt↔slb difference is mostly a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rate difference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(discussed on slide 14).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 — Sour wells: life and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(bottom row of the figure, slide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Life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~3–4× shorter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than nonsour: median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113 / 121 / 72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other).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Shape β ≈ 1.37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mild wear from day one (the nonsour curve is flatter).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order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other &lt; brt ≈ 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is set by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H₂S corrosion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the regime does not affect life, so for sour the model = baseline life · contractor multiplier (slides 2, 16).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 — The main factor: liquid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Life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steadily decreases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with rising Ql (the higher the Ql band, the lower the curve).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shape was chosen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from the data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log of Ql with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extreme 5% clipped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top and bottom (beyond the working bounds the adjustment is not increased).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Ql effect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statistically significant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(p&lt;0.001): life ×0.74 for a ~2.7× rise in Ql.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Reproduces on another field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same effect, so the relationship is not by chance.</a:t>
            </a:r>
          </a:p>
        </p:txBody>
      </p:sp>
      <p:pic>
        <p:nvPicPr>
          <p:cNvPr id="4" name="Picture 3" descr="nonsour_km_by_ql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14177"/>
            <a:ext cx="5623560" cy="3423037"/>
          </a:xfrm>
          <a:prstGeom prst="rect">
            <a:avLst/>
          </a:prstGeom>
        </p:spPr>
      </p:pic>
      <p:pic>
        <p:nvPicPr>
          <p:cNvPr id="5" name="Picture 4" descr="nonsour_ql_b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76347"/>
            <a:ext cx="5623560" cy="30986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11 — Frequency: the same physics through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Raising frequency raises rate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(affinity law): roughly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+10 m³/d per Hz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Frequency is the clearest single signal: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failure risk +1.9% per Hz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(significant), but with Ql held fixed the effect nearly vanishes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frequency acts precisely through rate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Net along the frequency→rate chain: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+5 Hz ≈ −4 %, +10 Hz ≈ −8 %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of life.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For deployment: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frequency and Kpod are not in the TM-06 plan, so the forecast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is computed from Ql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frequency/Kpod are the same physics, shown for understanding.</a:t>
            </a:r>
          </a:p>
        </p:txBody>
      </p:sp>
      <p:pic>
        <p:nvPicPr>
          <p:cNvPr id="4" name="Picture 3" descr="freq_effect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27816"/>
            <a:ext cx="5623560" cy="2396927"/>
          </a:xfrm>
          <a:prstGeom prst="rect">
            <a:avLst/>
          </a:prstGeom>
        </p:spPr>
      </p:pic>
      <p:pic>
        <p:nvPicPr>
          <p:cNvPr id="5" name="Picture 4" descr="nonsour_km_by_freq_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14761"/>
            <a:ext cx="5623560" cy="3423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12 — Loading (Kpod): checking the "safe zone"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Is there a "safe zone" at nominal (the previously deployed high-loading penalty)? —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flexible risk curve (right figure) shows: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protective valley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at nominal.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Risk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rises monotonically with loading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across the whole working range; the minimum is at the low edge.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Direct check: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low loading is not harmful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(robust to how it is counted).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 penalty for exceeding nominal is not justified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loading is the same rate, in other words.</a:t>
            </a:r>
          </a:p>
        </p:txBody>
      </p:sp>
      <p:pic>
        <p:nvPicPr>
          <p:cNvPr id="5" name="Picture 4" descr="nonsour_km_by_kpod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50753"/>
            <a:ext cx="5623560" cy="3423037"/>
          </a:xfrm>
          <a:prstGeom prst="rect">
            <a:avLst/>
          </a:prstGeom>
        </p:spPr>
      </p:pic>
      <p:pic>
        <p:nvPicPr>
          <p:cNvPr id="6" name="Picture 5" descr="kpod_spline_log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665857"/>
            <a:ext cx="5623560" cy="3592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13 — Gas (GLF): no effect — excluded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Survival curves by GLF band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cross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no ordering (medians 459 / 287 / 343 / 438 d mixed up), unlike the clear ordering by Ql (slide 10).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effect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on either risk or life (not significant).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Free-gas rate is also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significant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(a single spike in one group does not repeat).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Why excluded: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no signal, and gas rate is also confounded with well productivity. Vt is the gassiest field, so this is 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honest zero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not a lack of data.</a:t>
            </a:r>
          </a:p>
        </p:txBody>
      </p:sp>
      <p:pic>
        <p:nvPicPr>
          <p:cNvPr id="4" name="Picture 3" descr="nonsour_km_by_glf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59152"/>
            <a:ext cx="7120563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14 — brt vs slb, nonsour — the "lesson"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Parameters by contractor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(a separate Weibull fit per stratum, no adjustments):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61872"/>
          <a:ext cx="7954529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1659"/>
                <a:gridCol w="777240"/>
                <a:gridCol w="1025327"/>
                <a:gridCol w="897161"/>
                <a:gridCol w="1922488"/>
                <a:gridCol w="1153493"/>
                <a:gridCol w="897161"/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contractor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failures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shape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char. life η,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median,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mean, d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897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482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5786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These are raw per-stratum fits; β&lt;1 reflects the spread between wells, not wear-out. In the final model (slide 2) the contractor is a multiplier on a common baseline, and the shape is β≈1.15.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5409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Empirical survival curves by contractor (the raw picture — brt clearly above slb):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2841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At first glance — a 2× contractor advantage (median brt 573 vs slb 306 d),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but slb runs at noticeably higher rates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median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305 vs 193 m³/d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(the ranges overlap, they are not just different).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Match the rate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(range 193–305): the gap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disappears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brt 403 d vs slb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440 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So the 2× is mostly rate.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A small residual (slb ×0.79) persists and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repeats on another field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i.e. it is real. If we account for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runs cut short by planned GTM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(not failures), about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 third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of the residual is explained by this; the rest is unattributed (make/service).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Verdict: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contractor is kept as an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observational adjustment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the cause marked "not established".</a:t>
            </a:r>
          </a:p>
        </p:txBody>
      </p:sp>
      <p:pic>
        <p:nvPicPr>
          <p:cNvPr id="8" name="Picture 7" descr="nonsour_contractor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001768"/>
            <a:ext cx="2732649" cy="1691640"/>
          </a:xfrm>
          <a:prstGeom prst="rect">
            <a:avLst/>
          </a:prstGeom>
        </p:spPr>
      </p:pic>
      <p:pic>
        <p:nvPicPr>
          <p:cNvPr id="9" name="Picture 8" descr="contractor_ql_kpod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5344780"/>
            <a:ext cx="2732649" cy="10056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 — brt vs slb, sour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The same rate pattern: slb runs at higher rates (median 464 vs brt 331).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But for sour the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regime does not affect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(slide 16), so here the contractor multiplier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not a rate artefact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it reflects a real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shortfall of the "other" group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(life ×0.65, significant). brt ≈ slb (difference not significant).</a:t>
            </a:r>
          </a:p>
        </p:txBody>
      </p:sp>
      <p:pic>
        <p:nvPicPr>
          <p:cNvPr id="4" name="Picture 3" descr="sour_contractor_ql_kpod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21992"/>
            <a:ext cx="1143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16 — Why the regime is excluded for sour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Why the regime parameters are removed from the sour formula: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Ql: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no effect, and the order is even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reversed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vs nonsour (low-rate sour wells die faster, 65 vs 117 d) — this is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confounding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(the worst wells run quietly), not a rate law.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Frequency / Kpod: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no ordering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(frequency 74/125/105 d; Kpod 112/87/106 d).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Cause: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H₂S corrosion is a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threshold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(~120 mg/l) that overrides everything else; once a well is sour, the regime barely changes its life.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The sour formula =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baseline life + contractor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the regime parameters are set aside (no effect).</a:t>
            </a:r>
          </a:p>
        </p:txBody>
      </p:sp>
      <p:pic>
        <p:nvPicPr>
          <p:cNvPr id="5" name="Picture 4" descr="sour_km_by_ql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540980"/>
            <a:ext cx="3688080" cy="2244918"/>
          </a:xfrm>
          <a:prstGeom prst="rect">
            <a:avLst/>
          </a:prstGeom>
        </p:spPr>
      </p:pic>
      <p:pic>
        <p:nvPicPr>
          <p:cNvPr id="6" name="Picture 5" descr="sour_km_by_freq_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008" y="3540980"/>
            <a:ext cx="3688080" cy="2244918"/>
          </a:xfrm>
          <a:prstGeom prst="rect">
            <a:avLst/>
          </a:prstGeom>
        </p:spPr>
      </p:pic>
      <p:pic>
        <p:nvPicPr>
          <p:cNvPr id="7" name="Picture 6" descr="sour_km_by_kpod_b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968" y="3540980"/>
            <a:ext cx="3688080" cy="22449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17 —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Agreement with fact: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predicted median within ±10 % for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 of 6 groups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(thin "other" groups flagged); on the left figure the points fall on the diagonal.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Another field: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the rate dependence and the slb multiplier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repeat on the Ya field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Out-of-sample: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trained on installs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before 2024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tested on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2024+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the rate dependence transfers; the baseline level "drifts" ~20–30 % with install vintage (a recalibration knob, not a model error).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Robustness: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200 recomputes on a resampled dataset — the confidence bounds cover the fact in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 of 6 groups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model_validation_v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898252"/>
            <a:ext cx="11430000" cy="34572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Appendix — files and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Equation: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TTF_ADJUSTMENT_EQUATION.md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(parameters, survival curve, computation of median / mean life / horizon life + table).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Full reports: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docs/notes/vt_ttf_operating_covariates_findings.md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(EN)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_ru.md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(RU).</a:t>
            </a:r>
          </a:p>
          <a:p>
            <a:pPr/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Key tables: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revised_operating_model_v2.csv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availability_life_multipliers.csv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model_consistency_checks.csv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replicate_v31_on_ya.csv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temporal_holdout_validation.csv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bootstrap_model_cis.csv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informative_censoring_test.csv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contractor_rate_matched_cohorts.csv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kpod_quadratic_cox.csv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kpod_spline_meta.csv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kpod_risk_min.csv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18 — Agent prompt: implementing the calculation (dependencies + MRL/RMST 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A copy-paste prompt: how to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write the calculation itself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of operating life from ready-made parameters — the dependence on contractor/covariates and the four quantities (median, mean life, horizon life, remaining life). Any language; VBA and Python examples below. The model is NOT re-fit.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5298673" cy="4366260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54864"/>
          <a:lstStyle/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GOAL. Implement functions that compute ESP operating life from READY-MADE parameters (do not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re-fit). Four quantities: MEDIAN, MEAN LIFE (MRL at 0), HORIZON LIFE (RMST over tau),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REMAINING LIFE (MRL at age t). Any language (VBA/Python/…). Keep the parameters on a separate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sheet/table; the functions read them.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INPUT (sheet "Parameters", per H₂S class nonsour/sour):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 (curve shape), eta_ref (baseline life at the reference values, days),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references X_ref: Ql_ref=250, freq_ref=50, Kpod_ref=0.70,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coefficients g (log-linear): g_Ql (per Δln Ql), g_freq (1/Hz), g_Kpod (per 1.0)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— from the row of the availability pattern (which covariates are known; DROP the missing),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contractor multipliers (brt=1, slb, oth),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applicability range (nonsour, q05–q95): Ql 47..823, freq 31..56, Kpod 0.2..1.2,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horizon tau (default 730).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STEP 1 — multiplier phi via exp-log over DEVIATIONS Δ from references (known covariates only):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clamp parameters to the applicability range (do NOT extrapolate beyond), e.g.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q = min(max(Ql, 47), 823);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s =  g_Ql   · (ln(q) − ln(Ql_ref))      // Ql: deviation on the LOG scale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g_freq · (freq − freq_ref)          // DROP the term if frequency is unknown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g_Kpod · (Kpod − Kpod_ref)          // DROP if Kpod is unknown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phi = contractor_multiplier · exp(s)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eta = eta_ref · phi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STEP 2 — quantities from (eta, beta). Survival curve S(t)=exp(−(t/eta)^beta):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MEDIAN            = eta · ln(2)^(1/beta)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MEAN LIFE MRL(0)  = eta · Γ(1 + 1/beta)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HORIZON LIFE      = eta · Γ(1 + 1/beta) · P(1/beta, (tau/eta)^beta)     // = RMST(0,tau)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REMAINING LIFE(t) = eta · Γ(1 + 1/beta) · Q(1/beta, (t/eta)^beta) / exp(−(t/eta)^beta)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where Γ is the gamma function; P(s,x) is the regularized LOWER incomplete gamma; Q(s,x)=1−P(s,x).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SPECIAL FUNCTIONS (the only nontrivial part) — how to get them: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Γ(z):     Python  math.gamma(z)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Exp(WorksheetFunction.GammaLn(z))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P(s,x):   Python  scipy.special.gammainc(s, x)          // already the regularized lower one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WorksheetFunction.Gamma_Dist(x, s, 1, True)   // =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no library: lower incomplete gamma(s,x) by series  gamma(s,x)=x^s·e^−x·Σ_{k≥0} x^k/(s·(s+1)…(s+k)),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            then P = gamma(s,x)/Γ(s); converges fast for x≲s+1 (else via Q).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Q(s,x) = 1 −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CHECK VALUES (nonsour/slb, Ql=400, freq=52, Kpod=0.90, pattern "all three":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beta=1.28, eta_ref=570, references 250/50/0.70, g = −0.130/−0.0142/−0.729, slb=0.728):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Δ: ln(400/250)=+0.470, freq +2, Kpod +0.20;  s=−0.235;  exp(s)=0.790;  phi=0.576;  eta=328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→ MEDIAN 247, MEAN LIFE 304, HORIZON LIFE over 730 d = 292.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Fallback "Ql only" (beta=1.15, eta_ref=571, ref 250, g_Ql=−0.305, slb=0.792):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phi = 0.792·exp(−0.305·ln(400/250)) = 0.686, eta=392 → 285 / 373 / 335.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NOTES. Median and mean life scale linearly with phi; horizon life scales sub-linearly (tau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fixed). Report "horizon life" as primary, the median for reference. For sour the regime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coefficients g = 0 (contractor only).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1219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This is a calculation spec (not a re-fit). It is also the basis of a separate task: an Excel workbook with the parameters on a sheet and functions </a:t>
            </a:r>
            <a:r>
              <a:rPr sz="1050" i="1">
                <a:solidFill>
                  <a:srgbClr val="666666"/>
                </a:solidFill>
                <a:latin typeface="Consolas"/>
              </a:rPr>
              <a:t>TTF_Median / TTF_Mean / TTF_RMST / TTF_MRL</a:t>
            </a:r>
            <a:r>
              <a:rPr sz="1050" i="1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