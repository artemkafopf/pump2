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Влияние режима эксплуатации УЭЦН на отказность. Анализ для Vt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  <a:latin typeface="Calibri"/>
              </a:rPr>
              <a:t>Модель срока службы УЭЦН · зависимость от режима и подрядчика · v3.1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Словарь терминов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338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ННО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наработка на отказ, сколько насос отрабатывает до отказа (сутки).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срок, к которому отказывает половина насосов.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Полный средний ресурс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(в статистике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MRL — Mean Residual Life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«среднее остаточное время») — среднее время до отказа целиком, с учётом всего «хвоста».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Средний ресурс за горизонт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(в статистике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RMST — Restricted Mean Survival Time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«ограниченное среднее время до отказа») — сколько насос в среднем отработает за ближайший заданный период (например, за 730 суток), не заглядывая в далёкий «хвост».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Дебит Qж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дебит жидкости;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Кпод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загрузка насоса (доля от номинала);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ГЖФ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газожидкостной фактор.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Подрядчики: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brt / slb / прочие (oth).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 —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Вопрос: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как срок службы насоса (ННО) на поле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Vt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зависит от режима работы — дебита жидкости (Qж), частоты, загрузки (Кпод), газа (ГЖФ) — и какую формулу заложить в прогноз срока службы?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Данные: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фактические кривые доживаемости по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6 группам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(класс по сероводороду H₂S: кислые / некислые × подрядчик brt / slb / прочие). Всего ~530 некислых + ~136 кислых пробегов.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Главное: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Дебит жидкости — единственный режимный фактор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, влияющий у некислых: выше дебит — короче срок. Частота и Кпод отражают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тот же дебит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(закон подобия насоса).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Кислые скважины — отдельный мир: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срок в ~3–4 раза короче, и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режим на него не влияет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— всё определяет коррозия сероводородом.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Газ (ГЖФ) — влияния нет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, исключён.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Двукратная разница brt/slb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в основном из-за дебита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(slb работает на бóльших дебитах); небольшой необъяснённый остаток подтверждается на другом поле — оставлен как поправка.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Раздел I. Итоги: модель, параметры и расчёт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 — Итоговая формула прогноза срока службы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Смысл: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базовый срок группы, скорректированный на дебит и на подрядчика. Модель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лог-линейная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срок умножается на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exp(коэффициент × 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где Δ — отклонение параметра от опорного значения (для дебита — по логарифму).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9093342" cy="630936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tIns="54864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Срок(скв) = η_ref · множитель_подрядчика · exp( γ · Δ ),   Δ = ln( clip(дебит, 47, 823) ) − ln(250)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    clip = обрезка дебита к границам 47–823 (винзоризация): ниже 47 или выше 823 —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           поправка фиксируется на границе, дальше не растёт (без экстраполяции)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185416"/>
          <a:ext cx="10883278" cy="82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/>
                <a:gridCol w="1145689"/>
                <a:gridCol w="2209543"/>
                <a:gridCol w="900184"/>
                <a:gridCol w="1145689"/>
                <a:gridCol w="2373213"/>
                <a:gridCol w="777240"/>
                <a:gridCol w="777240"/>
                <a:gridCol w="777240"/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класс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форма кривой β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характерный срок η_ref,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дебит_опорн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границы дебита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коэффициент γ (на Δln дебита)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прочие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некислые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571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47–823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−0.305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×1.00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×0.79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×0.54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кислые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346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73–779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≈0 (нет влияния)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×1.00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×1.05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×0.65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22783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brt — опорный подрядчик, его множитель = 1.00 (остальные — относительно brt).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021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Опорное значение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точка, где поправка = 1 (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exp(0)=1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);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η_ref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базовый срок при дебите = опорному и подрядчике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brt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exp(γ·Δ)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эквивалентно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(дебит/опорн)^γ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Форма кривой β ≈ 1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означает: риск отказа почти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не растёт с возрастом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(не «старение»).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Связи получены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 наблюдениям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(не эксперимент). У кислых коэффициент дебита ≈0 → на практике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срок = η_ref · множитель подрядчика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(пересчитанный к медиане).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 — Коэффициенты: все три параметра (лог-линейная модель)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Срок умножается на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exp(γ · 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где Δ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отклонение параметра от опорного значения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(для дебита — по логарифму). Коэффициенты γ (некислые, из данных; жирным — значимые):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63040"/>
          <a:ext cx="5897878" cy="2395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5824"/>
                <a:gridCol w="1427907"/>
                <a:gridCol w="993327"/>
                <a:gridCol w="931244"/>
                <a:gridCol w="1179576"/>
              </a:tblGrid>
              <a:tr h="374904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что известно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γ дебит (на Δln дебита)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γ частота (1/Гц)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γ Кпод (на 1.0)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случай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дебит + частота + Кпод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−0.130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−0.0142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−0.729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все три (разделены)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дебит + Кпод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−0.191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−0.597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два параметра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дебит + частота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−0.190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−0.0161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два параметра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частота + Кпод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−0.0171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−0.812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два параметра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только дебит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−0.240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один (запасной)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только частота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−0.0222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один (запасной)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только Кпод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−0.729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один (запасной)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078224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Опорные значения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(где все поправки = 1):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дебит 250 м³/сут, частота 50 Гц, Кпод 0.70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базовый срок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η_ref = 570 сут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(brt). Подрядчик: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brt = 1.00 (опорный), slb ≈0.73, прочие ≈0.64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Границы применимости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(q05–q95, вне них не экстраполировать):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дебит 47–823, частота 31–56 Гц, Кпод 0.2–1.2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754880"/>
            <a:ext cx="11012484" cy="283464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tIns="54864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Срок = η_ref · подрядчик · exp( γ_дебит·(ln clip(дебит,47,823) − ln 250) + γ_част·(частота − 50) + γ_Кпод·(Кпод − 0.70)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129784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Как применять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для каждого известного параметра считаем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exp(γ · 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404104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частота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55 Гц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= +5 от 50 →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exp(−0.0142·5) =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×0.93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(−7 %);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Кпод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0.90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= +0.20 от 0.70 →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exp(−0.729·0.20) =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×0.86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дебит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400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vs 250 →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exp(−0.130·ln(400/250)) =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×0.94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09904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Затем перемножаем поправки известных параметров × подрядчик × η_ref (недостающие — опустить, не подставлять).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У кислых все γ ≈ 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→ только подрядчик. Медиана / ресурс — слайд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 — Пример расчёта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Скважина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W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некислая, подрядчик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slb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дебит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400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м³/сут, частота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52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Гц, Кпод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0.90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Известны все три → набор «все три» (β=1.28, η_ref=570; опорные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250 м³/сут / 50 Гц / 0.70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):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8308238" cy="1152144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tIns="54864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Δ дебит   = ln(400/250) = +0.470  → вклад = −0.130·0.470 = −0.061  (400 в границах 47–823)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Δ частота = 52 − 50     = +2 Гц   → вклад     = −0.0142·2     = −0.028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Δ Кпод    = 0.90 − 0.70 = +0.20   → вклад     = −0.729·0.20   = −0.146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сумма вкладов = −0.235            → exp(−0.235)               = 0.790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множитель подрядчика (slb)                                    = 0.728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характерный срок η = 570 · 0.790 · 0.728                      = 328 сут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706624"/>
          <a:ext cx="4426826" cy="1399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0263"/>
                <a:gridCol w="2009323"/>
                <a:gridCol w="777240"/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показатель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что это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Медиана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половина насосов отказывает к этому сроку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247 сут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Полный средний ресурс (MRL)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среднее время до отказа целиком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304 сут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Средний ресурс за 2 года (RMST, 730 сут)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сколько в среднем отработает за ближайшие 730 сут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292 сут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432511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Если известен только дебит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→ базовая формула (β=1.15, η_ref=571, опорный дебит 250): множитель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0.79 · exp(−0.305·ln(400/250)) = 0.686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η=392 →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Медиана 285 / средний ресурс 373 / ресурс за 2 года 335 сут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(Меньше параметров учтено — оценка сдержаннее, срок длиннее.)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0176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Этот расчёт 1:1 переносится в Excel: параметры (η, β, опорные значения, поправки, подрядчик) — на отдельном листе, функции считают четыре показателя. (Книга Excel — отдельная задача.)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 — Какой параметр использовать как ННО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Один и тот же прогноз можно выразить тремя способами: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срок, к которому отказывает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половина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насосов. Простая, но говорит только про «середину» и игнорирует разброс.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Полный средний ресурс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(MRL)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среднее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время до отказа целиком. Честное среднее, но частично опирается на далёкий «хвост», который в данных наблюдается слабо.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Средний ресурс за горизонт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(RMST за 730 сут) — сколько насос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 среднем отработает за ближайшие 2 года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Ничего не додумывает за пределами данных, всегда считается.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560320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Рекомендация: докладывать «средний ресурс за 2 года» (RMST) как основной показатель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рядом — «полный средний ресурс», медиану — только для справки. Значения по группам: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035808"/>
          <a:ext cx="7091978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/>
                <a:gridCol w="777240"/>
                <a:gridCol w="777240"/>
                <a:gridCol w="968188"/>
                <a:gridCol w="2097741"/>
                <a:gridCol w="1694329"/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класс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подрядчик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множитель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Медиана,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Полный средний ресурс,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Ресурс за 2 года,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некислые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544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424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некислые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329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431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369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некислые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прочие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224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294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278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кислые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кислые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кислые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прочие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175504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У некислых «полный средний ресурс» заметно больше «ресурса за 2 года» — потому что часть насосов живёт дольше 2 лет (длинный хвост). У кислых сроки короткие, оба показателя совпадают. Остаточный ресурс работающего насоса считаем от его </a:t>
            </a:r>
            <a:r>
              <a:rPr sz="1050" i="1">
                <a:solidFill>
                  <a:srgbClr val="666666"/>
                </a:solidFill>
                <a:latin typeface="Calibri"/>
              </a:rPr>
              <a:t>текущего возраста</a:t>
            </a:r>
            <a:r>
              <a:rPr sz="1050" i="1">
                <a:solidFill>
                  <a:srgbClr val="66666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 — Ограничения (что важно помнить)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Дебит задаёт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общий тренд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но срок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отдельного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насоса предсказывает слабо — модель хороша для планирования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 группе / парку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а не для точной даты одного насоса.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Множитель подрядчика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 наблюдениям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причина понятна лишь частично (около трети разницы — это обрывы пробегов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плановыми ремонтами (ГТМ)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а не отказы).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Все связи выявлены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 наблюдениям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не в эксперименте.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Частота и Кпод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 план ТМ-06 не входят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приведены для понимания; в прогнозе считаем по дебиту.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У кислых режим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не влияет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не добавлять режимные поправки без новых данных по H₂S.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Устаревшее: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ранее внедрённый «штраф за высокую загрузку Кпод» этим анализом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не подтверждён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(см. слайд 12).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Раздел II. Анализ — обоснование модели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 — Группы и общая картина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Фактические кривые доживаемости (доля работающих насосов со временем, по данным) по 6 группам + наложенная модель: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61872"/>
          <a:ext cx="626364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9364"/>
                <a:gridCol w="777240"/>
                <a:gridCol w="777240"/>
                <a:gridCol w="777240"/>
                <a:gridCol w="2162556"/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группа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пробеги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отказы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форма β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медиана по модели,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Vt_некислые_brt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436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Vt_некислые_slb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189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Vt_некислые_прочие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236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Vt_кислые_brt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Vt_кислые_slb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Vt_кислые_прочие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40156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Модель ложится </a:t>
            </a:r>
            <a:r>
              <a:rPr sz="1050" i="1">
                <a:solidFill>
                  <a:srgbClr val="666666"/>
                </a:solidFill>
                <a:latin typeface="Calibri"/>
              </a:rPr>
              <a:t>внутрь доверительной полосы</a:t>
            </a:r>
            <a:r>
              <a:rPr sz="1050" i="1">
                <a:solidFill>
                  <a:srgbClr val="666666"/>
                </a:solidFill>
                <a:latin typeface="Calibri"/>
              </a:rPr>
              <a:t> каждой группы. Полные параметры (характерный срок, опорный дебит, границы, поправки, запасные варианты) — слайды 2–3.</a:t>
            </a:r>
          </a:p>
        </p:txBody>
      </p:sp>
      <p:pic>
        <p:nvPicPr>
          <p:cNvPr id="6" name="Picture 5" descr="km_v31_per_stratum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005072"/>
            <a:ext cx="4669215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 — Некислые скважины: срок и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(верхний ряд рисунка, слайд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Некислые живут долго и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управляются дебитом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медиана по модели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436 / 320 / 236 сут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(brt / slb / прочие);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форма β ≈ 1.15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риск отказа почти не растёт с возрастом.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Модель (дебит + подрядчик)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воспроизводит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фактическую кривую каждого подрядчика.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Разница brt↔slb в основном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разница по дебиту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(разбор на слайде 14).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9 — Кислые скважины: срок и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(нижний ряд рисунка, слайд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Срок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 ~3–4 раза короче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некислых: медиана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113 / 121 / 72 сут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(brt / slb / прочие).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Форма β ≈ 1.37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умеренный износ с первых суток (у некислых кривая более пологая).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Порядок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прочие &lt; brt ≈ slb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задаёт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коррозия сероводородом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режим на срок не влияет, поэтому для кислых модель = базовый срок · множитель подрядчика (слайды 2, 16).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10 — Главный фактор: дебит жидкости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Срок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стабильно снижается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с ростом дебита (чем больше диапазон дебита — тем ниже кривая).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Форму зависимости подобрали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 данным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логарифм дебита с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ограничением крайних 5%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сверху и снизу (вне рабочих границ поправку не наращиваем).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Влияние дебита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статистически значимо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(p&lt;0.001): срок ×0.74 при росте дебита ~в 2,7 раза.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Подтверждается на другом поле (Ya)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тот же эффект, значит зависимость не случайна.</a:t>
            </a:r>
          </a:p>
        </p:txBody>
      </p:sp>
      <p:pic>
        <p:nvPicPr>
          <p:cNvPr id="4" name="Picture 3" descr="nonsour_km_by_ql_bin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14177"/>
            <a:ext cx="5623560" cy="3423037"/>
          </a:xfrm>
          <a:prstGeom prst="rect">
            <a:avLst/>
          </a:prstGeom>
        </p:spPr>
      </p:pic>
      <p:pic>
        <p:nvPicPr>
          <p:cNvPr id="5" name="Picture 4" descr="nonsour_ql_bin_trend_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876347"/>
            <a:ext cx="5623560" cy="30986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11 — Частота: та же физика через дебит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Повышение частоты поднимает дебит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(закон подобия): примерно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+10 м³/сут на каждый Гц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Частота — самый чёткий одиночный сигнал: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риск отказа +1.9% на каждый Гц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(значимо), но при фиксированном дебите эффект почти исчезает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частота действует именно через дебит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Итог по цепочке частота→дебит: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+5 Гц ≈ −4 %, +10 Гц ≈ −8 %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к сроку службы.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Для внедрения: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частоты и Кпод в плане ТМ-06 нет, поэтому в прогнозе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считаем по дебиту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частота/Кпод это та же физика, показаны для понимания.</a:t>
            </a:r>
          </a:p>
        </p:txBody>
      </p:sp>
      <p:pic>
        <p:nvPicPr>
          <p:cNvPr id="4" name="Picture 3" descr="freq_effect_mechanism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27816"/>
            <a:ext cx="5623560" cy="2396927"/>
          </a:xfrm>
          <a:prstGeom prst="rect">
            <a:avLst/>
          </a:prstGeom>
        </p:spPr>
      </p:pic>
      <p:pic>
        <p:nvPicPr>
          <p:cNvPr id="5" name="Picture 4" descr="nonsour_km_by_freq_bin_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814761"/>
            <a:ext cx="5623560" cy="34230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12 — Загрузка (Кпод): проверка «безопасной зоны»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Есть ли «безопасная зона» у номинала (ранее внедрённый штраф за высокую загрузку)? — Нет.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Гибкая кривая риска (правый рисунок) показывает: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никакой защитной впадины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у номинала нет.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Риск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монотонно растёт с загрузкой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на всём рабочем диапазоне; минимум — на нижнем краю.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Прямая проверка: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низкая загрузка не вредна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(устойчиво к способу подсчёта).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⇒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Штраф за превышение номинала не обоснован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загрузка — это тот же дебит, другими словами.</a:t>
            </a:r>
          </a:p>
        </p:txBody>
      </p:sp>
      <p:pic>
        <p:nvPicPr>
          <p:cNvPr id="5" name="Picture 4" descr="nonsour_km_by_kpod_bin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50753"/>
            <a:ext cx="5623560" cy="3423037"/>
          </a:xfrm>
          <a:prstGeom prst="rect">
            <a:avLst/>
          </a:prstGeom>
        </p:spPr>
      </p:pic>
      <p:pic>
        <p:nvPicPr>
          <p:cNvPr id="6" name="Picture 5" descr="kpod_spline_logHR_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665857"/>
            <a:ext cx="5623560" cy="3592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13 — Газ (ГЖФ): влияния нет — исключён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Кривые доживаемости по диапазонам ГЖФ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пересекаются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порядка нет (медианы 459 / 287 / 343 / 438 сут вперемешку), в отличие от чёткого порядка по дебиту (слайд 10).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Влияния нет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ни на риск, ни на срок (незначимо).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Дебит свободного газа — тоже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незначим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(единичный всплеск в одной группе не повторяется).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Почему исключён: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сигнала нет, а дебит газа к тому же смешан с продуктивностью скважины. Vt — самое газовое поле, так что это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честный ноль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а не нехватка данных.</a:t>
            </a:r>
          </a:p>
        </p:txBody>
      </p:sp>
      <p:pic>
        <p:nvPicPr>
          <p:cNvPr id="4" name="Picture 3" descr="nonsour_km_by_glf_bin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359152"/>
            <a:ext cx="7120563" cy="43342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14 — brt vs slb, некислые — разбор «урока»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Параметры по подрядчикам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(отдельная подгонка Вейбулла на каждую страту, без поправок):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61872"/>
          <a:ext cx="797814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7265"/>
                <a:gridCol w="777240"/>
                <a:gridCol w="777240"/>
                <a:gridCol w="777240"/>
                <a:gridCol w="2063115"/>
                <a:gridCol w="1303020"/>
                <a:gridCol w="1303020"/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подрядчик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пробеги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отказы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форма β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характ. срок η,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медиана,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среднее,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897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573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1001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189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482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306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542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прочие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429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282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460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257860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Это сырые постратные подгонки; β&lt;1 отражает разброс между скважинами, а не старение. В итоговой модели (слайд 2) подрядчик — это множитель к общей базе, а форма β≈1.15.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5409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Фактические кривые доживаемости по подрядчикам (сырая картина — brt заметно выше slb):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32841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На первый взгляд — 2-кратное преимущество подрядчика (медиана brt 573 vs slb 306 сут),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но slb работает на заметно бóльших дебитах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медиана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305 vs 193 м³/сут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(диапазоны пересекаются, а не просто разные).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Сравним при одинаковом дебите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(диапазон 193–305): разница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исчезает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brt 403 сут vs slb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440 сут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Значит 2× — в основном дебит.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Небольшой остаток (slb ×0.79) сохраняется и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повторяется на другом поле (Ya)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то есть реальный. Если учесть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обрывы пробегов плановыми ГТМ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(а не отказом), около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трети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остатка объясняется этим; остальное — не установлено (производитель/сервис).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Вывод: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подрядчика оставляем как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поправку по наблюдениям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причину помечаем «не установлена».</a:t>
            </a:r>
          </a:p>
        </p:txBody>
      </p:sp>
      <p:pic>
        <p:nvPicPr>
          <p:cNvPr id="8" name="Picture 7" descr="nonsour_contractor_km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5001768"/>
            <a:ext cx="2732649" cy="1691640"/>
          </a:xfrm>
          <a:prstGeom prst="rect">
            <a:avLst/>
          </a:prstGeom>
        </p:spPr>
      </p:pic>
      <p:pic>
        <p:nvPicPr>
          <p:cNvPr id="9" name="Picture 8" descr="contractor_ql_kpod_overlap_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5344780"/>
            <a:ext cx="2732649" cy="10056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15 — brt vs slb, кислые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Та же картина по дебиту: slb работает на бóльших дебитах (медиана 464 vs brt 331).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Но в кислых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режим на срок не влияет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(слайд 16), поэтому здесь множитель подрядчика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не следствие дебита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он отражает реальный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дефицит группы «прочие»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(срок ×0.65, значимо). brt ≈ slb (различие незначимо).</a:t>
            </a:r>
          </a:p>
        </p:txBody>
      </p:sp>
      <p:pic>
        <p:nvPicPr>
          <p:cNvPr id="4" name="Picture 3" descr="sour_contractor_ql_kpod_overlap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221992"/>
            <a:ext cx="114300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16 — Почему у кислых режим исключён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Почему режимные параметры убраны из кислой формулы: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Дебит: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влияния нет, и порядок даже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обратный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некислым (низкодебитные кислые гибнут быстрее, 65 vs 117 сут) — это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смешивание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(тихо работают худшие скважины), а не закон дебита.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Частота / Кпод: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порядка нет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(частота 74/125/105 сут; Кпод 112/87/106 сут).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Причина: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коррозия сероводородом — это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порог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(~120 мг/л), который перекрывает всё остальное; раз скважина кислая, режим почти не меняет срок.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⇒ Кислая формула =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базовый срок + подрядчик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режимные параметры отложены (влияния нет).</a:t>
            </a:r>
          </a:p>
        </p:txBody>
      </p:sp>
      <p:pic>
        <p:nvPicPr>
          <p:cNvPr id="5" name="Picture 4" descr="sour_km_by_ql_bin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540980"/>
            <a:ext cx="3688080" cy="2244918"/>
          </a:xfrm>
          <a:prstGeom prst="rect">
            <a:avLst/>
          </a:prstGeom>
        </p:spPr>
      </p:pic>
      <p:pic>
        <p:nvPicPr>
          <p:cNvPr id="6" name="Picture 5" descr="sour_km_by_freq_bin_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008" y="3540980"/>
            <a:ext cx="3688080" cy="2244918"/>
          </a:xfrm>
          <a:prstGeom prst="rect">
            <a:avLst/>
          </a:prstGeom>
        </p:spPr>
      </p:pic>
      <p:pic>
        <p:nvPicPr>
          <p:cNvPr id="7" name="Picture 6" descr="sour_km_by_kpod_bin_r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968" y="3540980"/>
            <a:ext cx="3688080" cy="224491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17 — Проверки достоверности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Совпадение с фактом: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прогноз медианы в пределах ±10 % для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 из 6 групп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(малые группы «прочие» отмечены); на левом рисунке точки ложатся на диагональ.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Другое поле: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зависимость от дебита и множитель slb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повторяются на поле Ya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Проверка на будущем: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обучили на монтажах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до 2024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проверили на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2024+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зависимость от дебита переносится; базовый уровень «плывёт» на ~20–30 % с годом монтажа (это ручка подстройки, а не ошибка модели).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Устойчивость: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200 повторных пересчётов по пересобранной выборке — доверительные границы накрывают факт в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5 из 6 групп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pic>
        <p:nvPicPr>
          <p:cNvPr id="4" name="Picture 3" descr="model_validation_v31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898252"/>
            <a:ext cx="11430000" cy="34572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Приложение — файлы и таблицы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Формула: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TTF_ADJUSTMENT_EQUATION.md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(параметры, кривая доживаемости, расчёт медианы / среднего ресурса / ресурса за горизонт + таблица).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Полные отчёты: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docs/notes/vt_ttf_operating_covariates_findings.md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(EN) /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_ru.md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(RU).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Ключевые таблицы: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revised_operating_model_v2.csv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availability_life_multipliers.csv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model_consistency_checks.csv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replicate_v31_on_ya.csv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temporal_holdout_validation.csv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bootstrap_model_cis.csv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informative_censoring_test.csv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contractor_rate_matched_cohorts.csv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kpod_quadratic_cox.csv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/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kpod_spline_meta.csv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/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kpod_risk_min.csv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18 — Промт для агента: реализация расчёта (зависимости + формулы MRL/RMST)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Копируемый промт: как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написать сам расчёт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срока службы по готовым параметрам — зависимость от подрядчика/ковариат и четыре показателя (медиана, средний ресурс, ресурс за горизонт, остаточный ресурс). Язык любой; ниже примеры для VBA и Python. Параметры модель НЕ переобучает.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4862504" cy="4366260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tIns="54864"/>
          <a:lstStyle/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ЦЕЛЬ. Реализовать функции расчёта срока службы УЭЦН по ГОТОВЫМ параметрам (модель не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переобучать). Четыре показателя: МЕДИАНА, СРЕДНИЙ РЕСУРС (MRL при 0), РЕСУРС ЗА ГОРИЗОНТ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(RMST за τ), ОСТАТОЧНЫЙ РЕСУРС (MRL в возрасте t). Язык — любой (VBA/Python/…). Параметры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держать на отдельном листе/в таблице; функции их читают.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ВХОД (лист «Параметры», по классу H₂S некислые/кислые):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beta (форма кривой), eta_ref (базовый срок при опорных значениях, сут),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опорные X_ref: дебит_опорн=250, частота_опорн=50, Кпод_опорн=0.70,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коэффициенты γ (лог-линейные): g_дебит (на Δln дебита), g_частота (1/Гц), g_Кпод (на 1.0)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— по строке паттерна доступности (какие ковариаты известны; недостающие ОПУСТИТЬ),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множители подрядчика (brt=1, slb, oth),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границы применимости (некислые, q05–q95): дебит 47..823, частота 31..56, Кпод 0.2..1.2,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горизонт tau (по умолч. 730).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ШАГ 1 — множитель φ через exp-log по ОТКЛОНЕНИЯМ Δ от опорных (только известные ковариаты):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зажать параметры к границам применимости (вне них НЕ экстраполировать), напр.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q = min(max(дебит, 47), 823);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s =  g_дебит  · (ln(q) − ln(дебит_опорн))     // дебит: отклонение по ЛОГАРИФМУ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+ g_частота · (частота − частота_опорн)     // слагаемое ОПУСТИТЬ, если частоты нет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+ g_Кпод   · (Кпод   − Кпод_опорн)          // ОПУСТИТЬ, если Кпода нет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φ = множитель_подрядчика · exp(s)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eta = eta_ref · φ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ШАГ 2 — показатели из (eta, beta). Кривая доживаемости S(t)=exp(−(t/eta)^beta):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МЕДИАНА              = eta · ln(2)^(1/beta)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СРЕДНИЙ РЕСУРС MRL(0) = eta · Γ(1 + 1/beta)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РЕСУРС ЗА ГОРИЗОНТ   = eta · Γ(1 + 1/beta) · P(1/beta, (tau/eta)^beta)     // = RMST(0,tau)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ОСТАТОЧНЫЙ РЕСУРС(t) = eta · Γ(1 + 1/beta) · Q(1/beta, (t/eta)^beta) / exp(−(t/eta)^beta)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где Γ — гамма-функция; P(s,x) — регуляризованная НИЖНЯЯ неполная гамма; Q(s,x)=1−P(s,x).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СПЕЦ-ФУНКЦИИ (единственная нетривиальная часть) — как получить: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Γ(z):     Python  math.gamma(z)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VBA     Exp(WorksheetFunction.GammaLn(z))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P(s,x):   Python  scipy.special.gammainc(s, x)          // уже регуляризованная нижняя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VBA     WorksheetFunction.Gamma_Dist(x, s, 1, True)   // = P(s,x)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без библиотек: нижняя неполная γ(s,x) рядом  γ(s,x)=x^s·e^−x·Σ_{k≥0} x^k/(s·(s+1)…(s+k)),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              затем P = γ(s,x)/Γ(s); сходится быстро при x≲s+1 (иначе через Q).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Q(s,x) = 1 − P(s,x)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ПРОВЕРОЧНЫЕ ЗНАЧЕНИЯ (некислые/slb, дебит=400, частота=52, Кпод=0.90, паттерн «все три»: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beta=1.28, eta_ref=570, опорные 250/50/0.70, g = −0.130/−0.0142/−0.729, slb=0.728):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Δ: ln(400/250)=+0.470, частота +2, Кпод +0.20;  s=−0.235;  exp(s)=0.790;  φ=0.576;  eta=328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→ МЕДИАНА 247, СРЕДНИЙ РЕСУРС 304, РЕСУРС ЗА 730 сут 292.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Fallback «только дебит» (beta=1.15, eta_ref=571, опорн 250, g_дебит=−0.305, slb=0.792):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φ = 0.792·exp(−0.305·ln(400/250)) = 0.686, eta=392 → 285 / 373 / 335.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ЗАМЕЧАНИЯ. Медиана и средний ресурс масштабируются линейно по φ; ресурс за горизонт —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сублинейно (tau фиксирован). Докладывать «ресурс за горизонт» как основной, медиану — для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справки. Для кислых режимные коэффициенты g = 0 (только подрядчик).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12190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Это спецификация расчёта (не переобучение). Она же — основа отдельной задачи: книга Excel с параметрами на листе и функциями </a:t>
            </a:r>
            <a:r>
              <a:rPr sz="1050" i="1">
                <a:solidFill>
                  <a:srgbClr val="666666"/>
                </a:solidFill>
                <a:latin typeface="Consolas"/>
              </a:rPr>
              <a:t>TTF_Median / TTF_Mean / TTF_RMST / TTF_MRL</a:t>
            </a:r>
            <a:r>
              <a:rPr sz="1050" i="1">
                <a:solidFill>
                  <a:srgbClr val="66666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